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Nunito"/>
      <p:regular r:id="rId24"/>
      <p:bold r:id="rId25"/>
      <p:italic r:id="rId26"/>
      <p:boldItalic r:id="rId27"/>
    </p:embeddedFont>
    <p:embeddedFont>
      <p:font typeface="Overpas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2" roundtripDataSignature="AMtx7mj4wE+ustiNKQEcebtG8JYGn4cR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Overpass-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verpas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verpass-boldItalic.fntdata"/><Relationship Id="rId30" Type="http://schemas.openxmlformats.org/officeDocument/2006/relationships/font" Target="fonts/Overpass-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0"/>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0"/>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0"/>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0"/>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20"/>
          <p:cNvGrpSpPr/>
          <p:nvPr/>
        </p:nvGrpSpPr>
        <p:grpSpPr>
          <a:xfrm>
            <a:off x="255200" y="592"/>
            <a:ext cx="2250363" cy="1044300"/>
            <a:chOff x="255200" y="592"/>
            <a:chExt cx="2250363" cy="1044300"/>
          </a:xfrm>
        </p:grpSpPr>
        <p:sp>
          <p:nvSpPr>
            <p:cNvPr id="15" name="Google Shape;15;p20"/>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0"/>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0"/>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20"/>
          <p:cNvGrpSpPr/>
          <p:nvPr/>
        </p:nvGrpSpPr>
        <p:grpSpPr>
          <a:xfrm>
            <a:off x="905395" y="592"/>
            <a:ext cx="2250363" cy="1044300"/>
            <a:chOff x="905395" y="592"/>
            <a:chExt cx="2250363" cy="1044300"/>
          </a:xfrm>
        </p:grpSpPr>
        <p:sp>
          <p:nvSpPr>
            <p:cNvPr id="19" name="Google Shape;19;p20"/>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0"/>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0"/>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20"/>
          <p:cNvGrpSpPr/>
          <p:nvPr/>
        </p:nvGrpSpPr>
        <p:grpSpPr>
          <a:xfrm>
            <a:off x="7057468" y="5088"/>
            <a:ext cx="1851281" cy="752108"/>
            <a:chOff x="6917201" y="0"/>
            <a:chExt cx="2227776" cy="863400"/>
          </a:xfrm>
        </p:grpSpPr>
        <p:sp>
          <p:nvSpPr>
            <p:cNvPr id="23" name="Google Shape;23;p20"/>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0"/>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0"/>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20"/>
          <p:cNvGrpSpPr/>
          <p:nvPr/>
        </p:nvGrpSpPr>
        <p:grpSpPr>
          <a:xfrm>
            <a:off x="6553032" y="4217852"/>
            <a:ext cx="2389067" cy="925737"/>
            <a:chOff x="6917201" y="0"/>
            <a:chExt cx="2227776" cy="863400"/>
          </a:xfrm>
        </p:grpSpPr>
        <p:sp>
          <p:nvSpPr>
            <p:cNvPr id="27" name="Google Shape;27;p20"/>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0"/>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0"/>
          <p:cNvGrpSpPr/>
          <p:nvPr/>
        </p:nvGrpSpPr>
        <p:grpSpPr>
          <a:xfrm>
            <a:off x="199149" y="4055652"/>
            <a:ext cx="2795413" cy="1083308"/>
            <a:chOff x="6917201" y="0"/>
            <a:chExt cx="2227776" cy="863400"/>
          </a:xfrm>
        </p:grpSpPr>
        <p:sp>
          <p:nvSpPr>
            <p:cNvPr id="31" name="Google Shape;31;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20"/>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20"/>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21"/>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 name="Google Shape;43;p2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4" name="Shape 44"/>
        <p:cNvGrpSpPr/>
        <p:nvPr/>
      </p:nvGrpSpPr>
      <p:grpSpPr>
        <a:xfrm>
          <a:off x="0" y="0"/>
          <a:ext cx="0" cy="0"/>
          <a:chOff x="0" y="0"/>
          <a:chExt cx="0" cy="0"/>
        </a:xfrm>
      </p:grpSpPr>
      <p:sp>
        <p:nvSpPr>
          <p:cNvPr id="45" name="Google Shape;45;p22"/>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22"/>
          <p:cNvGrpSpPr/>
          <p:nvPr/>
        </p:nvGrpSpPr>
        <p:grpSpPr>
          <a:xfrm>
            <a:off x="5594191" y="3961115"/>
            <a:ext cx="2910144" cy="1182340"/>
            <a:chOff x="6917201" y="0"/>
            <a:chExt cx="2227776" cy="863400"/>
          </a:xfrm>
        </p:grpSpPr>
        <p:sp>
          <p:nvSpPr>
            <p:cNvPr id="47" name="Google Shape;47;p22"/>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2"/>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22"/>
          <p:cNvGrpSpPr/>
          <p:nvPr/>
        </p:nvGrpSpPr>
        <p:grpSpPr>
          <a:xfrm>
            <a:off x="199149" y="2"/>
            <a:ext cx="2795413" cy="1083308"/>
            <a:chOff x="6917201" y="0"/>
            <a:chExt cx="2227776" cy="863400"/>
          </a:xfrm>
        </p:grpSpPr>
        <p:sp>
          <p:nvSpPr>
            <p:cNvPr id="51" name="Google Shape;51;p2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22"/>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5" name="Google Shape;55;p2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2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3"/>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3"/>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23"/>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 name="Google Shape;62;p23"/>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2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2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4"/>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 name="Google Shape;69;p2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2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5"/>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5"/>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25"/>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6" name="Google Shape;76;p2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26"/>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6"/>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26"/>
          <p:cNvGrpSpPr/>
          <p:nvPr/>
        </p:nvGrpSpPr>
        <p:grpSpPr>
          <a:xfrm>
            <a:off x="255991" y="-118"/>
            <a:ext cx="2251347" cy="1043408"/>
            <a:chOff x="3961956" y="4383950"/>
            <a:chExt cx="1160548" cy="548700"/>
          </a:xfrm>
        </p:grpSpPr>
        <p:sp>
          <p:nvSpPr>
            <p:cNvPr id="81" name="Google Shape;81;p26"/>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6"/>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6"/>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2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26"/>
          <p:cNvGrpSpPr/>
          <p:nvPr/>
        </p:nvGrpSpPr>
        <p:grpSpPr>
          <a:xfrm>
            <a:off x="34934" y="4522125"/>
            <a:ext cx="1593305" cy="617072"/>
            <a:chOff x="6917201" y="0"/>
            <a:chExt cx="2227776" cy="863400"/>
          </a:xfrm>
        </p:grpSpPr>
        <p:sp>
          <p:nvSpPr>
            <p:cNvPr id="86" name="Google Shape;86;p26"/>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6"/>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6"/>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26"/>
          <p:cNvGrpSpPr/>
          <p:nvPr/>
        </p:nvGrpSpPr>
        <p:grpSpPr>
          <a:xfrm>
            <a:off x="5886353" y="1243"/>
            <a:ext cx="3257454" cy="1261514"/>
            <a:chOff x="6917201" y="0"/>
            <a:chExt cx="2227776" cy="863400"/>
          </a:xfrm>
        </p:grpSpPr>
        <p:sp>
          <p:nvSpPr>
            <p:cNvPr id="90" name="Google Shape;90;p26"/>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6"/>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6"/>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26"/>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2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2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7"/>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27"/>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27"/>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2" name="Google Shape;102;p2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28"/>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8"/>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8"/>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8" name="Google Shape;108;p2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29"/>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29"/>
          <p:cNvGrpSpPr/>
          <p:nvPr/>
        </p:nvGrpSpPr>
        <p:grpSpPr>
          <a:xfrm>
            <a:off x="5959222" y="4119576"/>
            <a:ext cx="2520951" cy="1024165"/>
            <a:chOff x="6917201" y="0"/>
            <a:chExt cx="2227776" cy="863400"/>
          </a:xfrm>
        </p:grpSpPr>
        <p:sp>
          <p:nvSpPr>
            <p:cNvPr id="112" name="Google Shape;112;p29"/>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9"/>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9"/>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29"/>
          <p:cNvGrpSpPr/>
          <p:nvPr/>
        </p:nvGrpSpPr>
        <p:grpSpPr>
          <a:xfrm>
            <a:off x="199149" y="2"/>
            <a:ext cx="2795413" cy="1083308"/>
            <a:chOff x="6917201" y="0"/>
            <a:chExt cx="2227776" cy="863400"/>
          </a:xfrm>
        </p:grpSpPr>
        <p:sp>
          <p:nvSpPr>
            <p:cNvPr id="116" name="Google Shape;116;p29"/>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9"/>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9"/>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29"/>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29"/>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1" name="Google Shape;121;p2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3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9"/>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141150" y="1547500"/>
            <a:ext cx="6646500" cy="1508700"/>
          </a:xfrm>
          <a:prstGeom prst="rect">
            <a:avLst/>
          </a:prstGeom>
          <a:noFill/>
          <a:ln>
            <a:noFill/>
          </a:ln>
        </p:spPr>
        <p:txBody>
          <a:bodyPr anchorCtr="0" anchor="ctr" bIns="91425" lIns="91425" spcFirstLastPara="1" rIns="91425" wrap="square" tIns="91425">
            <a:normAutofit fontScale="90000"/>
          </a:bodyPr>
          <a:lstStyle/>
          <a:p>
            <a:pPr indent="457200" lvl="0" marL="0" rtl="0" algn="ctr">
              <a:lnSpc>
                <a:spcPct val="100000"/>
              </a:lnSpc>
              <a:spcBef>
                <a:spcPts val="0"/>
              </a:spcBef>
              <a:spcAft>
                <a:spcPts val="0"/>
              </a:spcAft>
              <a:buSzPct val="157077"/>
              <a:buNone/>
            </a:pPr>
            <a:r>
              <a:rPr lang="en"/>
              <a:t>             </a:t>
            </a:r>
            <a:r>
              <a:rPr b="1" lang="en" sz="2688">
                <a:solidFill>
                  <a:srgbClr val="FF0000"/>
                </a:solidFill>
              </a:rPr>
              <a:t>PROJECT ON 					“AC TO DC CONVERTER WITH VARIABLE VOLTAGE REGULATION SYSTEM”</a:t>
            </a:r>
            <a:endParaRPr b="1" sz="2688">
              <a:solidFill>
                <a:srgbClr val="FF0000"/>
              </a:solidFill>
            </a:endParaRPr>
          </a:p>
          <a:p>
            <a:pPr indent="457200" lvl="0" marL="0" rtl="0" algn="l">
              <a:lnSpc>
                <a:spcPct val="100000"/>
              </a:lnSpc>
              <a:spcBef>
                <a:spcPts val="0"/>
              </a:spcBef>
              <a:spcAft>
                <a:spcPts val="0"/>
              </a:spcAft>
              <a:buSzPct val="157077"/>
              <a:buNone/>
            </a:pPr>
            <a:r>
              <a:rPr b="1" lang="en" sz="2688">
                <a:solidFill>
                  <a:srgbClr val="FF0000"/>
                </a:solidFill>
              </a:rPr>
              <a:t>				  (Group-3)</a:t>
            </a:r>
            <a:endParaRPr b="1" sz="2688">
              <a:solidFill>
                <a:srgbClr val="FF0000"/>
              </a:solidFill>
            </a:endParaRPr>
          </a:p>
          <a:p>
            <a:pPr indent="0" lvl="0" marL="0" rtl="0" algn="l">
              <a:lnSpc>
                <a:spcPct val="100000"/>
              </a:lnSpc>
              <a:spcBef>
                <a:spcPts val="0"/>
              </a:spcBef>
              <a:spcAft>
                <a:spcPts val="0"/>
              </a:spcAft>
              <a:buSzPct val="263889"/>
              <a:buNone/>
            </a:pPr>
            <a:r>
              <a:rPr lang="en"/>
              <a:t>							</a:t>
            </a:r>
            <a:endParaRPr sz="1600">
              <a:solidFill>
                <a:srgbClr val="202124"/>
              </a:solidFill>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latin typeface="Times New Roman"/>
              <a:ea typeface="Times New Roman"/>
              <a:cs typeface="Times New Roman"/>
              <a:sym typeface="Times New Roman"/>
            </a:endParaRPr>
          </a:p>
        </p:txBody>
      </p:sp>
      <p:sp>
        <p:nvSpPr>
          <p:cNvPr id="129" name="Google Shape;129;p1"/>
          <p:cNvSpPr txBox="1"/>
          <p:nvPr/>
        </p:nvSpPr>
        <p:spPr>
          <a:xfrm>
            <a:off x="1842550" y="2432550"/>
            <a:ext cx="5243700" cy="1836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Daiyan Ibnul Aswad</a:t>
            </a:r>
            <a:endParaRPr b="1" i="0" sz="1800" u="none" cap="none" strike="noStrike">
              <a:solidFill>
                <a:schemeClr val="dk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Aban Ahmad</a:t>
            </a:r>
            <a:endParaRPr b="1" i="0" sz="1800" u="none" cap="none" strike="noStrike">
              <a:solidFill>
                <a:schemeClr val="dk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Adrija Khastagir</a:t>
            </a:r>
            <a:endParaRPr b="1" i="0" sz="1800" u="none" cap="none" strike="noStrike">
              <a:solidFill>
                <a:schemeClr val="dk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Quafshad Tayush Nur</a:t>
            </a:r>
            <a:endParaRPr b="1" i="0" sz="18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ph idx="1" type="body"/>
          </p:nvPr>
        </p:nvSpPr>
        <p:spPr>
          <a:xfrm>
            <a:off x="727650" y="420300"/>
            <a:ext cx="7688700" cy="4302900"/>
          </a:xfrm>
          <a:prstGeom prst="rect">
            <a:avLst/>
          </a:prstGeom>
          <a:noFill/>
          <a:ln>
            <a:noFill/>
          </a:ln>
        </p:spPr>
        <p:txBody>
          <a:bodyPr anchorCtr="0" anchor="t" bIns="91425" lIns="91425" spcFirstLastPara="1" rIns="91425" wrap="square" tIns="91425">
            <a:noAutofit/>
          </a:bodyPr>
          <a:lstStyle/>
          <a:p>
            <a:pPr indent="0" lvl="0" marL="457200" rtl="0" algn="l">
              <a:lnSpc>
                <a:spcPct val="95000"/>
              </a:lnSpc>
              <a:spcBef>
                <a:spcPts val="0"/>
              </a:spcBef>
              <a:spcAft>
                <a:spcPts val="0"/>
              </a:spcAft>
              <a:buSzPts val="1300"/>
              <a:buNone/>
            </a:pPr>
            <a:r>
              <a:rPr b="1" lang="en" sz="1817" u="sng">
                <a:solidFill>
                  <a:srgbClr val="000000"/>
                </a:solidFill>
                <a:latin typeface="Times New Roman"/>
                <a:ea typeface="Times New Roman"/>
                <a:cs typeface="Times New Roman"/>
                <a:sym typeface="Times New Roman"/>
              </a:rPr>
              <a:t>Introduction</a:t>
            </a:r>
            <a:endParaRPr b="1" sz="1817" u="sng">
              <a:solidFill>
                <a:srgbClr val="000000"/>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1018"/>
              <a:buNone/>
            </a:pPr>
            <a:r>
              <a:t/>
            </a:r>
            <a:endParaRPr sz="1417">
              <a:solidFill>
                <a:srgbClr val="000000"/>
              </a:solidFill>
              <a:latin typeface="Times New Roman"/>
              <a:ea typeface="Times New Roman"/>
              <a:cs typeface="Times New Roman"/>
              <a:sym typeface="Times New Roman"/>
            </a:endParaRPr>
          </a:p>
          <a:p>
            <a:pPr indent="457200" lvl="0" marL="0" rtl="0" algn="l">
              <a:lnSpc>
                <a:spcPct val="95000"/>
              </a:lnSpc>
              <a:spcBef>
                <a:spcPts val="0"/>
              </a:spcBef>
              <a:spcAft>
                <a:spcPts val="0"/>
              </a:spcAft>
              <a:buSzPts val="1018"/>
              <a:buNone/>
            </a:pPr>
            <a:r>
              <a:rPr i="1" lang="en" sz="1200">
                <a:solidFill>
                  <a:srgbClr val="000000"/>
                </a:solidFill>
                <a:latin typeface="Times New Roman"/>
                <a:ea typeface="Times New Roman"/>
                <a:cs typeface="Times New Roman"/>
                <a:sym typeface="Times New Roman"/>
              </a:rPr>
              <a:t>Brief overview of the project requirements</a:t>
            </a:r>
            <a:r>
              <a:rPr lang="en" sz="1200">
                <a:solidFill>
                  <a:srgbClr val="000000"/>
                </a:solidFill>
                <a:latin typeface="Times New Roman"/>
                <a:ea typeface="Times New Roman"/>
                <a:cs typeface="Times New Roman"/>
                <a:sym typeface="Times New Roman"/>
              </a:rPr>
              <a:t>:</a:t>
            </a:r>
            <a:endParaRPr sz="1200">
              <a:solidFill>
                <a:srgbClr val="000000"/>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1018"/>
              <a:buNone/>
            </a:pPr>
            <a:r>
              <a:t/>
            </a:r>
            <a:endParaRPr sz="1200">
              <a:solidFill>
                <a:srgbClr val="000000"/>
              </a:solidFill>
              <a:latin typeface="Times New Roman"/>
              <a:ea typeface="Times New Roman"/>
              <a:cs typeface="Times New Roman"/>
              <a:sym typeface="Times New Roman"/>
            </a:endParaRPr>
          </a:p>
          <a:p>
            <a:pPr indent="-318611" lvl="0" marL="457200" rtl="0" algn="just">
              <a:lnSpc>
                <a:spcPct val="95000"/>
              </a:lnSpc>
              <a:spcBef>
                <a:spcPts val="0"/>
              </a:spcBef>
              <a:spcAft>
                <a:spcPts val="0"/>
              </a:spcAft>
              <a:buClr>
                <a:srgbClr val="000000"/>
              </a:buClr>
              <a:buSzPts val="1418"/>
              <a:buFont typeface="Times New Roman"/>
              <a:buChar char="●"/>
            </a:pPr>
            <a:r>
              <a:rPr lang="en" sz="1200">
                <a:solidFill>
                  <a:srgbClr val="000000"/>
                </a:solidFill>
                <a:latin typeface="Times New Roman"/>
                <a:ea typeface="Times New Roman"/>
                <a:cs typeface="Times New Roman"/>
                <a:sym typeface="Times New Roman"/>
              </a:rPr>
              <a:t>DC or Direct Current is a one-way current that gives constant values in each interval  while AC or Alternating Current is a two-way current that fluctuates at each interval.</a:t>
            </a:r>
            <a:endParaRPr sz="1200">
              <a:solidFill>
                <a:srgbClr val="000000"/>
              </a:solidFill>
              <a:latin typeface="Times New Roman"/>
              <a:ea typeface="Times New Roman"/>
              <a:cs typeface="Times New Roman"/>
              <a:sym typeface="Times New Roman"/>
            </a:endParaRPr>
          </a:p>
          <a:p>
            <a:pPr indent="-318611" lvl="0" marL="457200" rtl="0" algn="just">
              <a:lnSpc>
                <a:spcPct val="95000"/>
              </a:lnSpc>
              <a:spcBef>
                <a:spcPts val="0"/>
              </a:spcBef>
              <a:spcAft>
                <a:spcPts val="0"/>
              </a:spcAft>
              <a:buClr>
                <a:srgbClr val="000000"/>
              </a:buClr>
              <a:buSzPts val="1418"/>
              <a:buFont typeface="Times New Roman"/>
              <a:buChar char="●"/>
            </a:pPr>
            <a:r>
              <a:rPr lang="en" sz="1200">
                <a:solidFill>
                  <a:srgbClr val="000000"/>
                </a:solidFill>
                <a:latin typeface="Times New Roman"/>
                <a:ea typeface="Times New Roman"/>
                <a:cs typeface="Times New Roman"/>
                <a:sym typeface="Times New Roman"/>
              </a:rPr>
              <a:t>In this project, using a variable voltage regulation system, our objective is to convert  the input AC voltage into output DC voltage through four processes: transformation, rectification, filtration or smoothing and finally load regulation.</a:t>
            </a:r>
            <a:endParaRPr sz="1200">
              <a:solidFill>
                <a:srgbClr val="000000"/>
              </a:solidFill>
              <a:latin typeface="Times New Roman"/>
              <a:ea typeface="Times New Roman"/>
              <a:cs typeface="Times New Roman"/>
              <a:sym typeface="Times New Roman"/>
            </a:endParaRPr>
          </a:p>
          <a:p>
            <a:pPr indent="-318611" lvl="0" marL="457200" rtl="0" algn="just">
              <a:lnSpc>
                <a:spcPct val="95000"/>
              </a:lnSpc>
              <a:spcBef>
                <a:spcPts val="0"/>
              </a:spcBef>
              <a:spcAft>
                <a:spcPts val="0"/>
              </a:spcAft>
              <a:buClr>
                <a:srgbClr val="000000"/>
              </a:buClr>
              <a:buSzPts val="1418"/>
              <a:buFont typeface="Times New Roman"/>
              <a:buChar char="●"/>
            </a:pPr>
            <a:r>
              <a:rPr lang="en" sz="1200">
                <a:solidFill>
                  <a:srgbClr val="000000"/>
                </a:solidFill>
                <a:latin typeface="Times New Roman"/>
                <a:ea typeface="Times New Roman"/>
                <a:cs typeface="Times New Roman"/>
                <a:sym typeface="Times New Roman"/>
              </a:rPr>
              <a:t>Through this variable voltage regulation system-based AC-to-DC conversion circuit, the outcome should exhibit efficiency and stability across a range of input voltages, addressing factors such as load variations, ripple minimization, and practical applications.</a:t>
            </a:r>
            <a:endParaRPr sz="1200">
              <a:solidFill>
                <a:srgbClr val="000000"/>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1018"/>
              <a:buNone/>
            </a:pPr>
            <a:r>
              <a:t/>
            </a:r>
            <a:endParaRPr sz="1200">
              <a:solidFill>
                <a:srgbClr val="000000"/>
              </a:solidFill>
              <a:latin typeface="Times New Roman"/>
              <a:ea typeface="Times New Roman"/>
              <a:cs typeface="Times New Roman"/>
              <a:sym typeface="Times New Roman"/>
            </a:endParaRPr>
          </a:p>
          <a:p>
            <a:pPr indent="457200" lvl="0" marL="0" rtl="0" algn="l">
              <a:lnSpc>
                <a:spcPct val="95000"/>
              </a:lnSpc>
              <a:spcBef>
                <a:spcPts val="0"/>
              </a:spcBef>
              <a:spcAft>
                <a:spcPts val="0"/>
              </a:spcAft>
              <a:buSzPts val="1018"/>
              <a:buNone/>
            </a:pPr>
            <a:r>
              <a:rPr i="1" lang="en" sz="1200">
                <a:solidFill>
                  <a:srgbClr val="000000"/>
                </a:solidFill>
                <a:latin typeface="Times New Roman"/>
                <a:ea typeface="Times New Roman"/>
                <a:cs typeface="Times New Roman"/>
                <a:sym typeface="Times New Roman"/>
              </a:rPr>
              <a:t>Importance of AC to DC conversion and variable voltage regulation:</a:t>
            </a:r>
            <a:endParaRPr i="1" sz="1200">
              <a:solidFill>
                <a:srgbClr val="000000"/>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1018"/>
              <a:buNone/>
            </a:pPr>
            <a:r>
              <a:t/>
            </a:r>
            <a:endParaRPr sz="1200">
              <a:solidFill>
                <a:srgbClr val="000000"/>
              </a:solidFill>
              <a:latin typeface="Times New Roman"/>
              <a:ea typeface="Times New Roman"/>
              <a:cs typeface="Times New Roman"/>
              <a:sym typeface="Times New Roman"/>
            </a:endParaRPr>
          </a:p>
          <a:p>
            <a:pPr indent="-318611" lvl="0" marL="457200" rtl="0" algn="just">
              <a:lnSpc>
                <a:spcPct val="87916"/>
              </a:lnSpc>
              <a:spcBef>
                <a:spcPts val="0"/>
              </a:spcBef>
              <a:spcAft>
                <a:spcPts val="0"/>
              </a:spcAft>
              <a:buClr>
                <a:srgbClr val="000000"/>
              </a:buClr>
              <a:buSzPts val="1418"/>
              <a:buFont typeface="Times New Roman"/>
              <a:buChar char="●"/>
            </a:pPr>
            <a:r>
              <a:rPr lang="en" sz="1200">
                <a:solidFill>
                  <a:srgbClr val="000000"/>
                </a:solidFill>
                <a:latin typeface="Times New Roman"/>
                <a:ea typeface="Times New Roman"/>
                <a:cs typeface="Times New Roman"/>
                <a:sym typeface="Times New Roman"/>
              </a:rPr>
              <a:t>AC to DC conversion is crucial in electronic systems as many devices and components operate on DC power. They are also essential in long-distance power transmissions in order to produce efficient energy cycles along with charging batteries. </a:t>
            </a:r>
            <a:endParaRPr sz="1200">
              <a:solidFill>
                <a:srgbClr val="000000"/>
              </a:solidFill>
              <a:latin typeface="Times New Roman"/>
              <a:ea typeface="Times New Roman"/>
              <a:cs typeface="Times New Roman"/>
              <a:sym typeface="Times New Roman"/>
            </a:endParaRPr>
          </a:p>
          <a:p>
            <a:pPr indent="-318611" lvl="0" marL="457200" rtl="0" algn="just">
              <a:lnSpc>
                <a:spcPct val="87916"/>
              </a:lnSpc>
              <a:spcBef>
                <a:spcPts val="800"/>
              </a:spcBef>
              <a:spcAft>
                <a:spcPts val="0"/>
              </a:spcAft>
              <a:buClr>
                <a:srgbClr val="000000"/>
              </a:buClr>
              <a:buSzPts val="1418"/>
              <a:buFont typeface="Times New Roman"/>
              <a:buChar char="●"/>
            </a:pPr>
            <a:r>
              <a:rPr lang="en" sz="1200">
                <a:solidFill>
                  <a:srgbClr val="000000"/>
                </a:solidFill>
                <a:latin typeface="Times New Roman"/>
                <a:ea typeface="Times New Roman"/>
                <a:cs typeface="Times New Roman"/>
                <a:sym typeface="Times New Roman"/>
              </a:rPr>
              <a:t>Variable voltage regulation is equally important, providing adaptability to different applications with varying power requirements. This design enables the creation of a reliable power source that can be adjusted as needed, and can even protect from overvoltage and undervoltage conditions.</a:t>
            </a:r>
            <a:endParaRPr sz="1417">
              <a:solidFill>
                <a:srgbClr val="000000"/>
              </a:solidFill>
              <a:latin typeface="Times New Roman"/>
              <a:ea typeface="Times New Roman"/>
              <a:cs typeface="Times New Roman"/>
              <a:sym typeface="Times New Roman"/>
            </a:endParaRPr>
          </a:p>
          <a:p>
            <a:pPr indent="0" lvl="0" marL="0" rtl="0" algn="l">
              <a:lnSpc>
                <a:spcPct val="95000"/>
              </a:lnSpc>
              <a:spcBef>
                <a:spcPts val="800"/>
              </a:spcBef>
              <a:spcAft>
                <a:spcPts val="1200"/>
              </a:spcAft>
              <a:buSzPts val="1018"/>
              <a:buNone/>
            </a:pPr>
            <a:r>
              <a:t/>
            </a:r>
            <a:endParaRPr sz="1602"/>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idx="1" type="body"/>
          </p:nvPr>
        </p:nvSpPr>
        <p:spPr>
          <a:xfrm>
            <a:off x="819150" y="501000"/>
            <a:ext cx="7505700" cy="4141500"/>
          </a:xfrm>
          <a:prstGeom prst="rect">
            <a:avLst/>
          </a:prstGeom>
          <a:noFill/>
          <a:ln>
            <a:noFill/>
          </a:ln>
        </p:spPr>
        <p:txBody>
          <a:bodyPr anchorCtr="0" anchor="t" bIns="91425" lIns="91425" spcFirstLastPara="1" rIns="91425" wrap="square" tIns="91425">
            <a:noAutofit/>
          </a:bodyPr>
          <a:lstStyle/>
          <a:p>
            <a:pPr indent="0" lvl="0" marL="457200" rtl="0" algn="l">
              <a:lnSpc>
                <a:spcPct val="105000"/>
              </a:lnSpc>
              <a:spcBef>
                <a:spcPts val="0"/>
              </a:spcBef>
              <a:spcAft>
                <a:spcPts val="0"/>
              </a:spcAft>
              <a:buSzPts val="1300"/>
              <a:buNone/>
            </a:pPr>
            <a:r>
              <a:rPr b="1" lang="en" sz="1817" u="sng">
                <a:solidFill>
                  <a:srgbClr val="000000"/>
                </a:solidFill>
                <a:latin typeface="Times New Roman"/>
                <a:ea typeface="Times New Roman"/>
                <a:cs typeface="Times New Roman"/>
                <a:sym typeface="Times New Roman"/>
              </a:rPr>
              <a:t>Problem Statement</a:t>
            </a:r>
            <a:endParaRPr b="1" sz="1817" u="sng">
              <a:solidFill>
                <a:srgbClr val="000000"/>
              </a:solidFill>
              <a:latin typeface="Times New Roman"/>
              <a:ea typeface="Times New Roman"/>
              <a:cs typeface="Times New Roman"/>
              <a:sym typeface="Times New Roman"/>
            </a:endParaRPr>
          </a:p>
          <a:p>
            <a:pPr indent="457200" lvl="0" marL="0" rtl="0" algn="l">
              <a:lnSpc>
                <a:spcPct val="105000"/>
              </a:lnSpc>
              <a:spcBef>
                <a:spcPts val="0"/>
              </a:spcBef>
              <a:spcAft>
                <a:spcPts val="0"/>
              </a:spcAft>
              <a:buSzPts val="1300"/>
              <a:buNone/>
            </a:pPr>
            <a:r>
              <a:t/>
            </a:r>
            <a:endParaRPr sz="1200">
              <a:solidFill>
                <a:srgbClr val="000000"/>
              </a:solidFill>
              <a:latin typeface="Times New Roman"/>
              <a:ea typeface="Times New Roman"/>
              <a:cs typeface="Times New Roman"/>
              <a:sym typeface="Times New Roman"/>
            </a:endParaRPr>
          </a:p>
          <a:p>
            <a:pPr indent="457200" lvl="0" marL="0" rtl="0" algn="l">
              <a:lnSpc>
                <a:spcPct val="105000"/>
              </a:lnSpc>
              <a:spcBef>
                <a:spcPts val="0"/>
              </a:spcBef>
              <a:spcAft>
                <a:spcPts val="0"/>
              </a:spcAft>
              <a:buSzPts val="1300"/>
              <a:buNone/>
            </a:pPr>
            <a:r>
              <a:rPr i="1" lang="en" sz="1200">
                <a:solidFill>
                  <a:srgbClr val="000000"/>
                </a:solidFill>
                <a:latin typeface="Times New Roman"/>
                <a:ea typeface="Times New Roman"/>
                <a:cs typeface="Times New Roman"/>
                <a:sym typeface="Times New Roman"/>
              </a:rPr>
              <a:t>Recap of the project question:</a:t>
            </a:r>
            <a:endParaRPr sz="1200">
              <a:solidFill>
                <a:srgbClr val="000000"/>
              </a:solidFill>
              <a:latin typeface="Times New Roman"/>
              <a:ea typeface="Times New Roman"/>
              <a:cs typeface="Times New Roman"/>
              <a:sym typeface="Times New Roman"/>
            </a:endParaRPr>
          </a:p>
          <a:p>
            <a:pPr indent="0" lvl="0" marL="0" rtl="0" algn="l">
              <a:lnSpc>
                <a:spcPct val="105000"/>
              </a:lnSpc>
              <a:spcBef>
                <a:spcPts val="0"/>
              </a:spcBef>
              <a:spcAft>
                <a:spcPts val="0"/>
              </a:spcAft>
              <a:buSzPts val="1300"/>
              <a:buNone/>
            </a:pPr>
            <a:r>
              <a:t/>
            </a:r>
            <a:endParaRPr sz="1200">
              <a:solidFill>
                <a:srgbClr val="000000"/>
              </a:solidFill>
              <a:latin typeface="Times New Roman"/>
              <a:ea typeface="Times New Roman"/>
              <a:cs typeface="Times New Roman"/>
              <a:sym typeface="Times New Roman"/>
            </a:endParaRPr>
          </a:p>
          <a:p>
            <a:pPr indent="-304800" lvl="0" marL="457200" rtl="0" algn="just">
              <a:lnSpc>
                <a:spcPct val="97916"/>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 project involves designing a versatile AC-to-DC conversion circuit with variable voltage regulation to ensure stability and efficiency across diverse input voltages. </a:t>
            </a:r>
            <a:endParaRPr sz="1200">
              <a:solidFill>
                <a:srgbClr val="000000"/>
              </a:solidFill>
              <a:latin typeface="Times New Roman"/>
              <a:ea typeface="Times New Roman"/>
              <a:cs typeface="Times New Roman"/>
              <a:sym typeface="Times New Roman"/>
            </a:endParaRPr>
          </a:p>
          <a:p>
            <a:pPr indent="0" lvl="0" marL="457200" rtl="0" algn="just">
              <a:lnSpc>
                <a:spcPct val="97916"/>
              </a:lnSpc>
              <a:spcBef>
                <a:spcPts val="800"/>
              </a:spcBef>
              <a:spcAft>
                <a:spcPts val="0"/>
              </a:spcAft>
              <a:buSzPts val="1300"/>
              <a:buNone/>
            </a:pPr>
            <a:r>
              <a:t/>
            </a:r>
            <a:endParaRPr sz="1200">
              <a:solidFill>
                <a:srgbClr val="000000"/>
              </a:solidFill>
              <a:latin typeface="Times New Roman"/>
              <a:ea typeface="Times New Roman"/>
              <a:cs typeface="Times New Roman"/>
              <a:sym typeface="Times New Roman"/>
            </a:endParaRPr>
          </a:p>
          <a:p>
            <a:pPr indent="457200" lvl="0" marL="0" rtl="0" algn="l">
              <a:lnSpc>
                <a:spcPct val="105000"/>
              </a:lnSpc>
              <a:spcBef>
                <a:spcPts val="800"/>
              </a:spcBef>
              <a:spcAft>
                <a:spcPts val="0"/>
              </a:spcAft>
              <a:buSzPts val="1300"/>
              <a:buNone/>
            </a:pPr>
            <a:r>
              <a:rPr i="1" lang="en" sz="1200">
                <a:solidFill>
                  <a:srgbClr val="000000"/>
                </a:solidFill>
                <a:latin typeface="Times New Roman"/>
                <a:ea typeface="Times New Roman"/>
                <a:cs typeface="Times New Roman"/>
                <a:sym typeface="Times New Roman"/>
              </a:rPr>
              <a:t>Challenges and considerations in designing the circuit:</a:t>
            </a:r>
            <a:endParaRPr sz="1200">
              <a:solidFill>
                <a:srgbClr val="000000"/>
              </a:solidFill>
              <a:latin typeface="Times New Roman"/>
              <a:ea typeface="Times New Roman"/>
              <a:cs typeface="Times New Roman"/>
              <a:sym typeface="Times New Roman"/>
            </a:endParaRPr>
          </a:p>
          <a:p>
            <a:pPr indent="0" lvl="0" marL="0" rtl="0" algn="l">
              <a:lnSpc>
                <a:spcPct val="105000"/>
              </a:lnSpc>
              <a:spcBef>
                <a:spcPts val="0"/>
              </a:spcBef>
              <a:spcAft>
                <a:spcPts val="0"/>
              </a:spcAft>
              <a:buSzPts val="1300"/>
              <a:buNone/>
            </a:pPr>
            <a:r>
              <a:t/>
            </a:r>
            <a:endParaRPr sz="1200">
              <a:solidFill>
                <a:srgbClr val="000000"/>
              </a:solidFill>
              <a:latin typeface="Times New Roman"/>
              <a:ea typeface="Times New Roman"/>
              <a:cs typeface="Times New Roman"/>
              <a:sym typeface="Times New Roman"/>
            </a:endParaRPr>
          </a:p>
          <a:p>
            <a:pPr indent="-304800" lvl="0" marL="457200" rtl="0" algn="just">
              <a:lnSpc>
                <a:spcPct val="105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To design a variable voltage regulation circuit, consider selecting efficient components, optimizing circuit topology, and integrating heat dissipation mechanisms. The circuit should maintain a stable output voltage with minimal ripple and respond quickly to changes in input voltage or load conditions. </a:t>
            </a:r>
            <a:endParaRPr sz="1200">
              <a:solidFill>
                <a:srgbClr val="000000"/>
              </a:solidFill>
              <a:latin typeface="Times New Roman"/>
              <a:ea typeface="Times New Roman"/>
              <a:cs typeface="Times New Roman"/>
              <a:sym typeface="Times New Roman"/>
            </a:endParaRPr>
          </a:p>
          <a:p>
            <a:pPr indent="0" lvl="0" marL="457200" rtl="0" algn="l">
              <a:lnSpc>
                <a:spcPct val="105000"/>
              </a:lnSpc>
              <a:spcBef>
                <a:spcPts val="0"/>
              </a:spcBef>
              <a:spcAft>
                <a:spcPts val="0"/>
              </a:spcAft>
              <a:buSzPts val="1300"/>
              <a:buNone/>
            </a:pPr>
            <a:r>
              <a:t/>
            </a:r>
            <a:endParaRPr sz="1200">
              <a:solidFill>
                <a:srgbClr val="000000"/>
              </a:solidFill>
              <a:latin typeface="Times New Roman"/>
              <a:ea typeface="Times New Roman"/>
              <a:cs typeface="Times New Roman"/>
              <a:sym typeface="Times New Roman"/>
            </a:endParaRPr>
          </a:p>
          <a:p>
            <a:pPr indent="-304800" lvl="0" marL="457200" rtl="0" algn="just">
              <a:lnSpc>
                <a:spcPct val="105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 circuit design should also eliminate electromagnetic interference by having proper shielding, filtering and grounding techniques, and consider cost constraints while balancing performance requirements. The operating environment, including temperature, humidity, and altitude, must also be taken into account.</a:t>
            </a:r>
            <a:endParaRPr sz="1200">
              <a:solidFill>
                <a:srgbClr val="000000"/>
              </a:solidFill>
              <a:latin typeface="Times New Roman"/>
              <a:ea typeface="Times New Roman"/>
              <a:cs typeface="Times New Roman"/>
              <a:sym typeface="Times New Roman"/>
            </a:endParaRPr>
          </a:p>
          <a:p>
            <a:pPr indent="0" lvl="0" marL="0" rtl="0" algn="l">
              <a:lnSpc>
                <a:spcPct val="105000"/>
              </a:lnSpc>
              <a:spcBef>
                <a:spcPts val="0"/>
              </a:spcBef>
              <a:spcAft>
                <a:spcPts val="1200"/>
              </a:spcAft>
              <a:buSzPts val="13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txBox="1"/>
          <p:nvPr>
            <p:ph idx="1" type="body"/>
          </p:nvPr>
        </p:nvSpPr>
        <p:spPr>
          <a:xfrm>
            <a:off x="819150" y="679125"/>
            <a:ext cx="7505700" cy="37596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n" sz="1100">
                <a:solidFill>
                  <a:srgbClr val="000000"/>
                </a:solidFill>
                <a:latin typeface="Times New Roman"/>
                <a:ea typeface="Times New Roman"/>
                <a:cs typeface="Times New Roman"/>
                <a:sym typeface="Times New Roman"/>
              </a:rPr>
              <a:t>           </a:t>
            </a:r>
            <a:r>
              <a:rPr b="1" lang="en" sz="1817" u="sng">
                <a:solidFill>
                  <a:srgbClr val="000000"/>
                </a:solidFill>
                <a:latin typeface="Times New Roman"/>
                <a:ea typeface="Times New Roman"/>
                <a:cs typeface="Times New Roman"/>
                <a:sym typeface="Times New Roman"/>
              </a:rPr>
              <a:t>Key Stages during the Conversion:</a:t>
            </a:r>
            <a:endParaRPr b="1" sz="1817" u="sng">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100">
              <a:solidFill>
                <a:srgbClr val="000000"/>
              </a:solidFill>
              <a:latin typeface="Times New Roman"/>
              <a:ea typeface="Times New Roman"/>
              <a:cs typeface="Times New Roman"/>
              <a:sym typeface="Times New Roman"/>
            </a:endParaRPr>
          </a:p>
          <a:p>
            <a:pPr indent="-298450" lvl="0" marL="457200" rtl="0" algn="just">
              <a:lnSpc>
                <a:spcPct val="115000"/>
              </a:lnSpc>
              <a:spcBef>
                <a:spcPts val="0"/>
              </a:spcBef>
              <a:spcAft>
                <a:spcPts val="0"/>
              </a:spcAft>
              <a:buClr>
                <a:srgbClr val="000000"/>
              </a:buClr>
              <a:buSzPts val="1100"/>
              <a:buFont typeface="Times New Roman"/>
              <a:buChar char="●"/>
            </a:pPr>
            <a:r>
              <a:rPr i="1" lang="en" sz="1100" u="sng">
                <a:solidFill>
                  <a:srgbClr val="000000"/>
                </a:solidFill>
                <a:latin typeface="Times New Roman"/>
                <a:ea typeface="Times New Roman"/>
                <a:cs typeface="Times New Roman"/>
                <a:sym typeface="Times New Roman"/>
              </a:rPr>
              <a:t>Transformer</a:t>
            </a:r>
            <a:r>
              <a:rPr lang="en" sz="1100">
                <a:solidFill>
                  <a:srgbClr val="000000"/>
                </a:solidFill>
                <a:latin typeface="Times New Roman"/>
                <a:ea typeface="Times New Roman"/>
                <a:cs typeface="Times New Roman"/>
                <a:sym typeface="Times New Roman"/>
              </a:rPr>
              <a:t>: Transformers facilitate the transmission of power at high voltages (for reduced losses) and enable the conversion of voltage levels to match the requirements of the downstream components.</a:t>
            </a:r>
            <a:endParaRPr sz="1100">
              <a:solidFill>
                <a:srgbClr val="000000"/>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300"/>
              <a:buNone/>
            </a:pPr>
            <a:r>
              <a:t/>
            </a:r>
            <a:endParaRPr sz="1100">
              <a:solidFill>
                <a:srgbClr val="000000"/>
              </a:solidFill>
              <a:latin typeface="Times New Roman"/>
              <a:ea typeface="Times New Roman"/>
              <a:cs typeface="Times New Roman"/>
              <a:sym typeface="Times New Roman"/>
            </a:endParaRPr>
          </a:p>
          <a:p>
            <a:pPr indent="0" lvl="0" marL="457200" rtl="0" algn="just">
              <a:lnSpc>
                <a:spcPct val="107916"/>
              </a:lnSpc>
              <a:spcBef>
                <a:spcPts val="0"/>
              </a:spcBef>
              <a:spcAft>
                <a:spcPts val="0"/>
              </a:spcAft>
              <a:buSzPts val="1300"/>
              <a:buNone/>
            </a:pPr>
            <a:r>
              <a:t/>
            </a:r>
            <a:endParaRPr sz="1100" u="sng">
              <a:solidFill>
                <a:srgbClr val="000000"/>
              </a:solidFill>
              <a:latin typeface="Times New Roman"/>
              <a:ea typeface="Times New Roman"/>
              <a:cs typeface="Times New Roman"/>
              <a:sym typeface="Times New Roman"/>
            </a:endParaRPr>
          </a:p>
          <a:p>
            <a:pPr indent="-298450" lvl="0" marL="457200" rtl="0" algn="just">
              <a:lnSpc>
                <a:spcPct val="107916"/>
              </a:lnSpc>
              <a:spcBef>
                <a:spcPts val="800"/>
              </a:spcBef>
              <a:spcAft>
                <a:spcPts val="0"/>
              </a:spcAft>
              <a:buClr>
                <a:srgbClr val="000000"/>
              </a:buClr>
              <a:buSzPts val="1100"/>
              <a:buFont typeface="Times New Roman"/>
              <a:buChar char="●"/>
            </a:pPr>
            <a:r>
              <a:rPr i="1" lang="en" sz="1100" u="sng">
                <a:solidFill>
                  <a:srgbClr val="000000"/>
                </a:solidFill>
                <a:latin typeface="Times New Roman"/>
                <a:ea typeface="Times New Roman"/>
                <a:cs typeface="Times New Roman"/>
                <a:sym typeface="Times New Roman"/>
              </a:rPr>
              <a:t>Rectification</a:t>
            </a:r>
            <a:r>
              <a:rPr lang="en" sz="1100">
                <a:solidFill>
                  <a:srgbClr val="000000"/>
                </a:solidFill>
                <a:latin typeface="Times New Roman"/>
                <a:ea typeface="Times New Roman"/>
                <a:cs typeface="Times New Roman"/>
                <a:sym typeface="Times New Roman"/>
              </a:rPr>
              <a:t>: Converting AC to DC is essential because most electronic devices and components operate on DC power. Rectification ensures that the current flows in a unidirectional manner, preparing it for further processing in the voltage regulation stage.</a:t>
            </a:r>
            <a:endParaRPr sz="1100">
              <a:solidFill>
                <a:srgbClr val="000000"/>
              </a:solidFill>
              <a:latin typeface="Times New Roman"/>
              <a:ea typeface="Times New Roman"/>
              <a:cs typeface="Times New Roman"/>
              <a:sym typeface="Times New Roman"/>
            </a:endParaRPr>
          </a:p>
          <a:p>
            <a:pPr indent="0" lvl="0" marL="457200" rtl="0" algn="just">
              <a:lnSpc>
                <a:spcPct val="107916"/>
              </a:lnSpc>
              <a:spcBef>
                <a:spcPts val="800"/>
              </a:spcBef>
              <a:spcAft>
                <a:spcPts val="0"/>
              </a:spcAft>
              <a:buSzPts val="1300"/>
              <a:buNone/>
            </a:pPr>
            <a:r>
              <a:t/>
            </a:r>
            <a:endParaRPr sz="1100" u="sng">
              <a:solidFill>
                <a:srgbClr val="000000"/>
              </a:solidFill>
              <a:latin typeface="Times New Roman"/>
              <a:ea typeface="Times New Roman"/>
              <a:cs typeface="Times New Roman"/>
              <a:sym typeface="Times New Roman"/>
            </a:endParaRPr>
          </a:p>
          <a:p>
            <a:pPr indent="-298450" lvl="0" marL="457200" rtl="0" algn="just">
              <a:lnSpc>
                <a:spcPct val="107916"/>
              </a:lnSpc>
              <a:spcBef>
                <a:spcPts val="800"/>
              </a:spcBef>
              <a:spcAft>
                <a:spcPts val="0"/>
              </a:spcAft>
              <a:buClr>
                <a:srgbClr val="000000"/>
              </a:buClr>
              <a:buSzPts val="1100"/>
              <a:buFont typeface="Times New Roman"/>
              <a:buChar char="●"/>
            </a:pPr>
            <a:r>
              <a:rPr i="1" lang="en" sz="1100" u="sng">
                <a:solidFill>
                  <a:srgbClr val="000000"/>
                </a:solidFill>
                <a:latin typeface="Times New Roman"/>
                <a:ea typeface="Times New Roman"/>
                <a:cs typeface="Times New Roman"/>
                <a:sym typeface="Times New Roman"/>
              </a:rPr>
              <a:t>Voltage Regulation</a:t>
            </a:r>
            <a:r>
              <a:rPr lang="en" sz="1100">
                <a:solidFill>
                  <a:srgbClr val="000000"/>
                </a:solidFill>
                <a:latin typeface="Times New Roman"/>
                <a:ea typeface="Times New Roman"/>
                <a:cs typeface="Times New Roman"/>
                <a:sym typeface="Times New Roman"/>
              </a:rPr>
              <a:t>: Stable voltage output is crucial for the proper functioning and longevity of electronic devices. Voltage regulation ensures that the connected devices receive a consistent and appropriate voltage level, preventing potential damage from overvoltage or undervoltage conditions.</a:t>
            </a:r>
            <a:endParaRPr sz="1100">
              <a:solidFill>
                <a:srgbClr val="000000"/>
              </a:solidFill>
              <a:latin typeface="Times New Roman"/>
              <a:ea typeface="Times New Roman"/>
              <a:cs typeface="Times New Roman"/>
              <a:sym typeface="Times New Roman"/>
            </a:endParaRPr>
          </a:p>
          <a:p>
            <a:pPr indent="0" lvl="0" marL="457200" rtl="0" algn="just">
              <a:lnSpc>
                <a:spcPct val="107916"/>
              </a:lnSpc>
              <a:spcBef>
                <a:spcPts val="800"/>
              </a:spcBef>
              <a:spcAft>
                <a:spcPts val="0"/>
              </a:spcAft>
              <a:buSzPts val="1300"/>
              <a:buNone/>
            </a:pPr>
            <a:r>
              <a:t/>
            </a:r>
            <a:endParaRPr sz="1100">
              <a:solidFill>
                <a:srgbClr val="000000"/>
              </a:solidFill>
              <a:latin typeface="Times New Roman"/>
              <a:ea typeface="Times New Roman"/>
              <a:cs typeface="Times New Roman"/>
              <a:sym typeface="Times New Roman"/>
            </a:endParaRPr>
          </a:p>
          <a:p>
            <a:pPr indent="-298450" lvl="0" marL="457200" rtl="0" algn="just">
              <a:lnSpc>
                <a:spcPct val="107916"/>
              </a:lnSpc>
              <a:spcBef>
                <a:spcPts val="800"/>
              </a:spcBef>
              <a:spcAft>
                <a:spcPts val="0"/>
              </a:spcAft>
              <a:buClr>
                <a:srgbClr val="000000"/>
              </a:buClr>
              <a:buSzPts val="1100"/>
              <a:buFont typeface="Times New Roman"/>
              <a:buChar char="●"/>
            </a:pPr>
            <a:r>
              <a:rPr i="1" lang="en" sz="1100" u="sng">
                <a:solidFill>
                  <a:srgbClr val="000000"/>
                </a:solidFill>
                <a:latin typeface="Times New Roman"/>
                <a:ea typeface="Times New Roman"/>
                <a:cs typeface="Times New Roman"/>
                <a:sym typeface="Times New Roman"/>
              </a:rPr>
              <a:t>Load Regulation</a:t>
            </a:r>
            <a:r>
              <a:rPr lang="en" sz="1100">
                <a:solidFill>
                  <a:srgbClr val="000000"/>
                </a:solidFill>
                <a:latin typeface="Times New Roman"/>
                <a:ea typeface="Times New Roman"/>
                <a:cs typeface="Times New Roman"/>
                <a:sym typeface="Times New Roman"/>
              </a:rPr>
              <a:t>: Stable output under varying loads. Devices connected to the power supply may have varying power requirements. Load regulation ensures that the power supply can adapt to these changes, providing a constant and reliable voltage to the connected devices.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txBox="1"/>
          <p:nvPr>
            <p:ph idx="1" type="body"/>
          </p:nvPr>
        </p:nvSpPr>
        <p:spPr>
          <a:xfrm>
            <a:off x="819150" y="645725"/>
            <a:ext cx="7505700" cy="4108200"/>
          </a:xfrm>
          <a:prstGeom prst="rect">
            <a:avLst/>
          </a:prstGeom>
          <a:noFill/>
          <a:ln>
            <a:noFill/>
          </a:ln>
        </p:spPr>
        <p:txBody>
          <a:bodyPr anchorCtr="0" anchor="t" bIns="91425" lIns="91425" spcFirstLastPara="1" rIns="91425" wrap="square" tIns="91425">
            <a:normAutofit/>
          </a:bodyPr>
          <a:lstStyle/>
          <a:p>
            <a:pPr indent="0" lvl="0" marL="457200" marR="0" rtl="0" algn="l">
              <a:lnSpc>
                <a:spcPct val="105000"/>
              </a:lnSpc>
              <a:spcBef>
                <a:spcPts val="0"/>
              </a:spcBef>
              <a:spcAft>
                <a:spcPts val="0"/>
              </a:spcAft>
              <a:buSzPts val="1300"/>
              <a:buNone/>
            </a:pPr>
            <a:r>
              <a:rPr b="1" lang="en" sz="1817" u="sng">
                <a:solidFill>
                  <a:srgbClr val="000000"/>
                </a:solidFill>
                <a:latin typeface="Times New Roman"/>
                <a:ea typeface="Times New Roman"/>
                <a:cs typeface="Times New Roman"/>
                <a:sym typeface="Times New Roman"/>
              </a:rPr>
              <a:t>Circuit Diagram with the Key Stages</a:t>
            </a:r>
            <a:endParaRPr b="1" sz="1817" u="sng">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1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100">
                <a:solidFill>
                  <a:srgbClr val="000000"/>
                </a:solidFill>
                <a:latin typeface="Times New Roman"/>
                <a:ea typeface="Times New Roman"/>
                <a:cs typeface="Times New Roman"/>
                <a:sym typeface="Times New Roman"/>
              </a:rPr>
              <a:t>       	</a:t>
            </a:r>
            <a:endParaRPr/>
          </a:p>
          <a:p>
            <a:pPr indent="0" lvl="0" marL="0" rtl="0" algn="l">
              <a:lnSpc>
                <a:spcPct val="115000"/>
              </a:lnSpc>
              <a:spcBef>
                <a:spcPts val="0"/>
              </a:spcBef>
              <a:spcAft>
                <a:spcPts val="0"/>
              </a:spcAft>
              <a:buSzPts val="1300"/>
              <a:buNone/>
            </a:pPr>
            <a:r>
              <a:t/>
            </a:r>
            <a:endParaRPr/>
          </a:p>
          <a:p>
            <a:pPr indent="0" lvl="0" marL="457200" rtl="0" algn="l">
              <a:lnSpc>
                <a:spcPct val="107916"/>
              </a:lnSpc>
              <a:spcBef>
                <a:spcPts val="1200"/>
              </a:spcBef>
              <a:spcAft>
                <a:spcPts val="0"/>
              </a:spcAft>
              <a:buSzPts val="1300"/>
              <a:buNone/>
            </a:pPr>
            <a:r>
              <a:t/>
            </a:r>
            <a:endParaRPr sz="1100">
              <a:solidFill>
                <a:srgbClr val="000000"/>
              </a:solidFill>
              <a:latin typeface="Times New Roman"/>
              <a:ea typeface="Times New Roman"/>
              <a:cs typeface="Times New Roman"/>
              <a:sym typeface="Times New Roman"/>
            </a:endParaRPr>
          </a:p>
          <a:p>
            <a:pPr indent="0" lvl="0" marL="0" rtl="0" algn="l">
              <a:lnSpc>
                <a:spcPct val="115000"/>
              </a:lnSpc>
              <a:spcBef>
                <a:spcPts val="800"/>
              </a:spcBef>
              <a:spcAft>
                <a:spcPts val="1200"/>
              </a:spcAft>
              <a:buSzPts val="1300"/>
              <a:buNone/>
            </a:pPr>
            <a:r>
              <a:t/>
            </a:r>
            <a:endParaRPr/>
          </a:p>
        </p:txBody>
      </p:sp>
      <p:pic>
        <p:nvPicPr>
          <p:cNvPr id="150" name="Google Shape;150;p5"/>
          <p:cNvPicPr preferRelativeResize="0"/>
          <p:nvPr/>
        </p:nvPicPr>
        <p:blipFill rotWithShape="1">
          <a:blip r:embed="rId3">
            <a:alphaModFix/>
          </a:blip>
          <a:srcRect b="0" l="0" r="0" t="0"/>
          <a:stretch/>
        </p:blipFill>
        <p:spPr>
          <a:xfrm>
            <a:off x="952750" y="1328463"/>
            <a:ext cx="7238500" cy="2486575"/>
          </a:xfrm>
          <a:prstGeom prst="rect">
            <a:avLst/>
          </a:prstGeom>
          <a:noFill/>
          <a:ln>
            <a:noFill/>
          </a:ln>
        </p:spPr>
      </p:pic>
      <p:sp>
        <p:nvSpPr>
          <p:cNvPr id="151" name="Google Shape;151;p5"/>
          <p:cNvSpPr txBox="1"/>
          <p:nvPr/>
        </p:nvSpPr>
        <p:spPr>
          <a:xfrm>
            <a:off x="1341550" y="3868750"/>
            <a:ext cx="1302600" cy="5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Calibri"/>
                <a:ea typeface="Calibri"/>
                <a:cs typeface="Calibri"/>
                <a:sym typeface="Calibri"/>
              </a:rPr>
              <a:t>Transformer</a:t>
            </a:r>
            <a:endParaRPr b="1" i="0" sz="1700" u="none" cap="none" strike="noStrike">
              <a:solidFill>
                <a:schemeClr val="dk2"/>
              </a:solidFill>
              <a:latin typeface="Calibri"/>
              <a:ea typeface="Calibri"/>
              <a:cs typeface="Calibri"/>
              <a:sym typeface="Calibri"/>
            </a:endParaRPr>
          </a:p>
        </p:txBody>
      </p:sp>
      <p:sp>
        <p:nvSpPr>
          <p:cNvPr id="152" name="Google Shape;152;p5"/>
          <p:cNvSpPr txBox="1"/>
          <p:nvPr/>
        </p:nvSpPr>
        <p:spPr>
          <a:xfrm>
            <a:off x="2770400" y="4291825"/>
            <a:ext cx="1302600" cy="5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Calibri"/>
                <a:ea typeface="Calibri"/>
                <a:cs typeface="Calibri"/>
                <a:sym typeface="Calibri"/>
              </a:rPr>
              <a:t>Rectification</a:t>
            </a:r>
            <a:endParaRPr b="1" i="0" sz="1700" u="none" cap="none" strike="noStrike">
              <a:solidFill>
                <a:schemeClr val="dk2"/>
              </a:solidFill>
              <a:latin typeface="Calibri"/>
              <a:ea typeface="Calibri"/>
              <a:cs typeface="Calibri"/>
              <a:sym typeface="Calibri"/>
            </a:endParaRPr>
          </a:p>
        </p:txBody>
      </p:sp>
      <p:sp>
        <p:nvSpPr>
          <p:cNvPr id="153" name="Google Shape;153;p5"/>
          <p:cNvSpPr txBox="1"/>
          <p:nvPr/>
        </p:nvSpPr>
        <p:spPr>
          <a:xfrm>
            <a:off x="4435175" y="4023150"/>
            <a:ext cx="2151000" cy="60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Calibri"/>
                <a:ea typeface="Calibri"/>
                <a:cs typeface="Calibri"/>
                <a:sym typeface="Calibri"/>
              </a:rPr>
              <a:t>Voltage Regulation</a:t>
            </a:r>
            <a:endParaRPr b="1" i="0" sz="1800" u="none" cap="none" strike="noStrike">
              <a:solidFill>
                <a:schemeClr val="dk2"/>
              </a:solidFill>
              <a:latin typeface="Calibri"/>
              <a:ea typeface="Calibri"/>
              <a:cs typeface="Calibri"/>
              <a:sym typeface="Calibri"/>
            </a:endParaRPr>
          </a:p>
        </p:txBody>
      </p:sp>
      <p:sp>
        <p:nvSpPr>
          <p:cNvPr id="154" name="Google Shape;154;p5"/>
          <p:cNvSpPr txBox="1"/>
          <p:nvPr/>
        </p:nvSpPr>
        <p:spPr>
          <a:xfrm>
            <a:off x="6948350" y="4023150"/>
            <a:ext cx="1673100" cy="5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Calibri"/>
                <a:ea typeface="Calibri"/>
                <a:cs typeface="Calibri"/>
                <a:sym typeface="Calibri"/>
              </a:rPr>
              <a:t>Load Regulation</a:t>
            </a:r>
            <a:endParaRPr b="1" i="0" sz="1500" u="none" cap="none" strike="noStrike">
              <a:solidFill>
                <a:schemeClr val="dk2"/>
              </a:solidFill>
              <a:latin typeface="Calibri"/>
              <a:ea typeface="Calibri"/>
              <a:cs typeface="Calibri"/>
              <a:sym typeface="Calibri"/>
            </a:endParaRPr>
          </a:p>
        </p:txBody>
      </p:sp>
      <p:pic>
        <p:nvPicPr>
          <p:cNvPr id="155" name="Google Shape;155;p5"/>
          <p:cNvPicPr preferRelativeResize="0"/>
          <p:nvPr/>
        </p:nvPicPr>
        <p:blipFill rotWithShape="1">
          <a:blip r:embed="rId4">
            <a:alphaModFix/>
          </a:blip>
          <a:srcRect b="0" l="0" r="0" t="0"/>
          <a:stretch/>
        </p:blipFill>
        <p:spPr>
          <a:xfrm>
            <a:off x="1252313" y="3514588"/>
            <a:ext cx="1481068" cy="340925"/>
          </a:xfrm>
          <a:prstGeom prst="rect">
            <a:avLst/>
          </a:prstGeom>
          <a:noFill/>
          <a:ln>
            <a:noFill/>
          </a:ln>
        </p:spPr>
      </p:pic>
      <p:pic>
        <p:nvPicPr>
          <p:cNvPr id="156" name="Google Shape;156;p5"/>
          <p:cNvPicPr preferRelativeResize="0"/>
          <p:nvPr/>
        </p:nvPicPr>
        <p:blipFill rotWithShape="1">
          <a:blip r:embed="rId4">
            <a:alphaModFix/>
          </a:blip>
          <a:srcRect b="0" l="0" r="0" t="0"/>
          <a:stretch/>
        </p:blipFill>
        <p:spPr>
          <a:xfrm>
            <a:off x="2799125" y="3950900"/>
            <a:ext cx="1164275" cy="340925"/>
          </a:xfrm>
          <a:prstGeom prst="rect">
            <a:avLst/>
          </a:prstGeom>
          <a:noFill/>
          <a:ln>
            <a:noFill/>
          </a:ln>
        </p:spPr>
      </p:pic>
      <p:pic>
        <p:nvPicPr>
          <p:cNvPr id="157" name="Google Shape;157;p5"/>
          <p:cNvPicPr preferRelativeResize="0"/>
          <p:nvPr/>
        </p:nvPicPr>
        <p:blipFill rotWithShape="1">
          <a:blip r:embed="rId4">
            <a:alphaModFix/>
          </a:blip>
          <a:srcRect b="0" l="0" r="0" t="0"/>
          <a:stretch/>
        </p:blipFill>
        <p:spPr>
          <a:xfrm>
            <a:off x="3963400" y="3691650"/>
            <a:ext cx="2759600" cy="340925"/>
          </a:xfrm>
          <a:prstGeom prst="rect">
            <a:avLst/>
          </a:prstGeom>
          <a:noFill/>
          <a:ln>
            <a:noFill/>
          </a:ln>
        </p:spPr>
      </p:pic>
      <p:pic>
        <p:nvPicPr>
          <p:cNvPr id="158" name="Google Shape;158;p5"/>
          <p:cNvPicPr preferRelativeResize="0"/>
          <p:nvPr/>
        </p:nvPicPr>
        <p:blipFill rotWithShape="1">
          <a:blip r:embed="rId4">
            <a:alphaModFix/>
          </a:blip>
          <a:srcRect b="0" l="0" r="0" t="0"/>
          <a:stretch/>
        </p:blipFill>
        <p:spPr>
          <a:xfrm>
            <a:off x="7140375" y="3691650"/>
            <a:ext cx="981225" cy="340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6"/>
          <p:cNvPicPr preferRelativeResize="0"/>
          <p:nvPr/>
        </p:nvPicPr>
        <p:blipFill rotWithShape="1">
          <a:blip r:embed="rId3">
            <a:alphaModFix/>
          </a:blip>
          <a:srcRect b="14187" l="18767" r="25375" t="16368"/>
          <a:stretch/>
        </p:blipFill>
        <p:spPr>
          <a:xfrm>
            <a:off x="945450" y="998200"/>
            <a:ext cx="1804375" cy="1555500"/>
          </a:xfrm>
          <a:prstGeom prst="rect">
            <a:avLst/>
          </a:prstGeom>
          <a:noFill/>
          <a:ln>
            <a:noFill/>
          </a:ln>
        </p:spPr>
      </p:pic>
      <p:sp>
        <p:nvSpPr>
          <p:cNvPr id="164" name="Google Shape;164;p6"/>
          <p:cNvSpPr txBox="1"/>
          <p:nvPr/>
        </p:nvSpPr>
        <p:spPr>
          <a:xfrm>
            <a:off x="3415800" y="396475"/>
            <a:ext cx="23124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 sz="2400" u="sng" cap="none" strike="noStrike">
                <a:solidFill>
                  <a:schemeClr val="dk2"/>
                </a:solidFill>
                <a:latin typeface="Overpass"/>
                <a:ea typeface="Overpass"/>
                <a:cs typeface="Overpass"/>
                <a:sym typeface="Overpass"/>
              </a:rPr>
              <a:t>Transformers </a:t>
            </a:r>
            <a:endParaRPr b="1" i="0" sz="2400" u="sng" cap="none" strike="noStrike">
              <a:solidFill>
                <a:schemeClr val="dk2"/>
              </a:solidFill>
              <a:latin typeface="Overpass"/>
              <a:ea typeface="Overpass"/>
              <a:cs typeface="Overpass"/>
              <a:sym typeface="Overpass"/>
            </a:endParaRPr>
          </a:p>
        </p:txBody>
      </p:sp>
      <p:pic>
        <p:nvPicPr>
          <p:cNvPr id="165" name="Google Shape;165;p6"/>
          <p:cNvPicPr preferRelativeResize="0"/>
          <p:nvPr/>
        </p:nvPicPr>
        <p:blipFill rotWithShape="1">
          <a:blip r:embed="rId4">
            <a:alphaModFix/>
          </a:blip>
          <a:srcRect b="7678" l="15309" r="18099" t="23332"/>
          <a:stretch/>
        </p:blipFill>
        <p:spPr>
          <a:xfrm>
            <a:off x="893600" y="2571750"/>
            <a:ext cx="1908075" cy="1831825"/>
          </a:xfrm>
          <a:prstGeom prst="rect">
            <a:avLst/>
          </a:prstGeom>
          <a:noFill/>
          <a:ln>
            <a:noFill/>
          </a:ln>
        </p:spPr>
      </p:pic>
      <p:sp>
        <p:nvSpPr>
          <p:cNvPr id="166" name="Google Shape;166;p6"/>
          <p:cNvSpPr txBox="1"/>
          <p:nvPr/>
        </p:nvSpPr>
        <p:spPr>
          <a:xfrm>
            <a:off x="3537925" y="1925800"/>
            <a:ext cx="4899900" cy="292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Calibri"/>
                <a:ea typeface="Calibri"/>
                <a:cs typeface="Calibri"/>
                <a:sym typeface="Calibri"/>
              </a:rPr>
              <a:t>Transformers are used to step up or step down voltage. </a:t>
            </a:r>
            <a:endParaRPr b="0" i="0" sz="13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a:p>
            <a:pPr indent="-311150" lvl="0" marL="457200" marR="0" rtl="0" algn="just">
              <a:lnSpc>
                <a:spcPct val="100000"/>
              </a:lnSpc>
              <a:spcBef>
                <a:spcPts val="0"/>
              </a:spcBef>
              <a:spcAft>
                <a:spcPts val="0"/>
              </a:spcAft>
              <a:buClr>
                <a:schemeClr val="dk2"/>
              </a:buClr>
              <a:buSzPts val="1300"/>
              <a:buFont typeface="Calibri"/>
              <a:buChar char="●"/>
            </a:pPr>
            <a:r>
              <a:rPr b="0" i="0" lang="en" sz="1300" u="none" cap="none" strike="noStrike">
                <a:solidFill>
                  <a:schemeClr val="dk2"/>
                </a:solidFill>
                <a:latin typeface="Calibri"/>
                <a:ea typeface="Calibri"/>
                <a:cs typeface="Calibri"/>
                <a:sym typeface="Calibri"/>
              </a:rPr>
              <a:t>Step up transformers are used from production grid to transmission line to increase the voltage for efficient power transmission. </a:t>
            </a:r>
            <a:endParaRPr b="0" i="0" sz="1300" u="none" cap="none" strike="noStrike">
              <a:solidFill>
                <a:schemeClr val="dk2"/>
              </a:solidFill>
              <a:latin typeface="Calibri"/>
              <a:ea typeface="Calibri"/>
              <a:cs typeface="Calibri"/>
              <a:sym typeface="Calibri"/>
            </a:endParaRPr>
          </a:p>
          <a:p>
            <a:pPr indent="-311150" lvl="0" marL="457200" marR="0" rtl="0" algn="just">
              <a:lnSpc>
                <a:spcPct val="100000"/>
              </a:lnSpc>
              <a:spcBef>
                <a:spcPts val="0"/>
              </a:spcBef>
              <a:spcAft>
                <a:spcPts val="0"/>
              </a:spcAft>
              <a:buClr>
                <a:schemeClr val="dk2"/>
              </a:buClr>
              <a:buSzPts val="1300"/>
              <a:buFont typeface="Calibri"/>
              <a:buChar char="●"/>
            </a:pPr>
            <a:r>
              <a:rPr b="0" i="0" lang="en" sz="1300" u="none" cap="none" strike="noStrike">
                <a:solidFill>
                  <a:schemeClr val="dk2"/>
                </a:solidFill>
                <a:latin typeface="Calibri"/>
                <a:ea typeface="Calibri"/>
                <a:cs typeface="Calibri"/>
                <a:sym typeface="Calibri"/>
              </a:rPr>
              <a:t>Step down transformers are used to decrease voltage from power line to consumption or distribution line. </a:t>
            </a:r>
            <a:endParaRPr b="0" i="0" sz="13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2"/>
                </a:solidFill>
                <a:latin typeface="Calibri"/>
                <a:ea typeface="Calibri"/>
                <a:cs typeface="Calibri"/>
                <a:sym typeface="Calibri"/>
              </a:rPr>
              <a:t>Transformers work according to the Principle of Mutual Inductance. </a:t>
            </a:r>
            <a:endParaRPr b="1" i="0" sz="13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2"/>
                </a:solidFill>
                <a:latin typeface="Calibri"/>
                <a:ea typeface="Calibri"/>
                <a:cs typeface="Calibri"/>
                <a:sym typeface="Calibri"/>
              </a:rPr>
              <a:t>Transformers only work for Alternating Current. </a:t>
            </a:r>
            <a:endParaRPr b="1" i="0" sz="13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
        <p:nvSpPr>
          <p:cNvPr id="167" name="Google Shape;167;p6"/>
          <p:cNvSpPr txBox="1"/>
          <p:nvPr/>
        </p:nvSpPr>
        <p:spPr>
          <a:xfrm>
            <a:off x="3480925" y="998200"/>
            <a:ext cx="4956900" cy="808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Calibri"/>
                <a:ea typeface="Calibri"/>
                <a:cs typeface="Calibri"/>
                <a:sym typeface="Calibri"/>
              </a:rPr>
              <a:t>Transformers are electrical devices that has the ability to increase or decrease voltages through electromagnetic induction. </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767300" y="513750"/>
            <a:ext cx="3309900" cy="48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990"/>
              <a:buNone/>
            </a:pPr>
            <a:r>
              <a:rPr b="1" lang="en" sz="2000" u="sng">
                <a:solidFill>
                  <a:srgbClr val="000000"/>
                </a:solidFill>
                <a:latin typeface="Overpass"/>
                <a:ea typeface="Overpass"/>
                <a:cs typeface="Overpass"/>
                <a:sym typeface="Overpass"/>
              </a:rPr>
              <a:t>Transformer coil ratio:</a:t>
            </a:r>
            <a:endParaRPr b="1" sz="2000" u="sng">
              <a:solidFill>
                <a:srgbClr val="000000"/>
              </a:solidFill>
              <a:latin typeface="Overpass"/>
              <a:ea typeface="Overpass"/>
              <a:cs typeface="Overpass"/>
              <a:sym typeface="Overpass"/>
            </a:endParaRPr>
          </a:p>
          <a:p>
            <a:pPr indent="0" lvl="0" marL="0" rtl="0" algn="l">
              <a:lnSpc>
                <a:spcPct val="100000"/>
              </a:lnSpc>
              <a:spcBef>
                <a:spcPts val="1200"/>
              </a:spcBef>
              <a:spcAft>
                <a:spcPts val="0"/>
              </a:spcAft>
              <a:buSzPts val="990"/>
              <a:buNone/>
            </a:pPr>
            <a:r>
              <a:t/>
            </a:r>
            <a:endParaRPr sz="2700"/>
          </a:p>
        </p:txBody>
      </p:sp>
      <p:pic>
        <p:nvPicPr>
          <p:cNvPr id="173" name="Google Shape;173;p7"/>
          <p:cNvPicPr preferRelativeResize="0"/>
          <p:nvPr/>
        </p:nvPicPr>
        <p:blipFill rotWithShape="1">
          <a:blip r:embed="rId3">
            <a:alphaModFix/>
          </a:blip>
          <a:srcRect b="-2100" l="0" r="0" t="2100"/>
          <a:stretch/>
        </p:blipFill>
        <p:spPr>
          <a:xfrm>
            <a:off x="767300" y="1556650"/>
            <a:ext cx="4481675" cy="2119350"/>
          </a:xfrm>
          <a:prstGeom prst="rect">
            <a:avLst/>
          </a:prstGeom>
          <a:noFill/>
          <a:ln>
            <a:noFill/>
          </a:ln>
        </p:spPr>
      </p:pic>
      <p:sp>
        <p:nvSpPr>
          <p:cNvPr id="174" name="Google Shape;174;p7"/>
          <p:cNvSpPr txBox="1"/>
          <p:nvPr/>
        </p:nvSpPr>
        <p:spPr>
          <a:xfrm>
            <a:off x="5294700" y="832025"/>
            <a:ext cx="3441300" cy="173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chemeClr val="dk2"/>
                </a:solidFill>
                <a:latin typeface="Times New Roman"/>
                <a:ea typeface="Times New Roman"/>
                <a:cs typeface="Times New Roman"/>
                <a:sym typeface="Times New Roman"/>
              </a:rPr>
              <a:t>Magnetic flux =</a:t>
            </a:r>
            <a:r>
              <a:rPr b="0" i="0" lang="en" sz="1350" u="none" cap="none" strike="noStrike">
                <a:solidFill>
                  <a:srgbClr val="202124"/>
                </a:solidFill>
                <a:highlight>
                  <a:srgbClr val="FFFFFF"/>
                </a:highlight>
                <a:latin typeface="Times New Roman"/>
                <a:ea typeface="Times New Roman"/>
                <a:cs typeface="Times New Roman"/>
                <a:sym typeface="Times New Roman"/>
              </a:rPr>
              <a:t>φ ( same throughout the core)</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202124"/>
                </a:solidFill>
                <a:highlight>
                  <a:srgbClr val="FFFFFF"/>
                </a:highlight>
                <a:latin typeface="Times New Roman"/>
                <a:ea typeface="Times New Roman"/>
                <a:cs typeface="Times New Roman"/>
                <a:sym typeface="Times New Roman"/>
              </a:rPr>
              <a:t>EMF per turn = e (equal for both winding) </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202124"/>
                </a:solidFill>
                <a:highlight>
                  <a:srgbClr val="FFFFFF"/>
                </a:highlight>
                <a:latin typeface="Times New Roman"/>
                <a:ea typeface="Times New Roman"/>
                <a:cs typeface="Times New Roman"/>
                <a:sym typeface="Times New Roman"/>
              </a:rPr>
              <a:t>Therefore, </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202124"/>
                </a:solidFill>
                <a:highlight>
                  <a:srgbClr val="FFFFFF"/>
                </a:highlight>
                <a:latin typeface="Times New Roman"/>
                <a:ea typeface="Times New Roman"/>
                <a:cs typeface="Times New Roman"/>
                <a:sym typeface="Times New Roman"/>
              </a:rPr>
              <a:t>EMF in primary winding, Vp= Np X e</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202124"/>
                </a:solidFill>
                <a:highlight>
                  <a:srgbClr val="FFFFFF"/>
                </a:highlight>
                <a:latin typeface="Times New Roman"/>
                <a:ea typeface="Times New Roman"/>
                <a:cs typeface="Times New Roman"/>
                <a:sym typeface="Times New Roman"/>
              </a:rPr>
              <a:t>EMF in secondary winding, Vs= Ns X e</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202124"/>
                </a:solidFill>
                <a:highlight>
                  <a:srgbClr val="FFFFFF"/>
                </a:highlight>
                <a:latin typeface="Times New Roman"/>
                <a:ea typeface="Times New Roman"/>
                <a:cs typeface="Times New Roman"/>
                <a:sym typeface="Times New Roman"/>
              </a:rPr>
              <a:t>Therefore, Vp/Vs = Np/Ns</a:t>
            </a:r>
            <a:endParaRPr b="0" i="0" sz="135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02124"/>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02124"/>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02124"/>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02124"/>
              </a:solidFill>
              <a:highlight>
                <a:srgbClr val="FFFFFF"/>
              </a:highlight>
              <a:latin typeface="Arial"/>
              <a:ea typeface="Arial"/>
              <a:cs typeface="Arial"/>
              <a:sym typeface="Arial"/>
            </a:endParaRPr>
          </a:p>
        </p:txBody>
      </p:sp>
      <p:sp>
        <p:nvSpPr>
          <p:cNvPr id="175" name="Google Shape;175;p7"/>
          <p:cNvSpPr txBox="1"/>
          <p:nvPr/>
        </p:nvSpPr>
        <p:spPr>
          <a:xfrm>
            <a:off x="5305650" y="2885425"/>
            <a:ext cx="3419400" cy="211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500"/>
              </a:spcBef>
              <a:spcAft>
                <a:spcPts val="0"/>
              </a:spcAft>
              <a:buClr>
                <a:srgbClr val="000000"/>
              </a:buClr>
              <a:buSzPts val="1500"/>
              <a:buFont typeface="Arial"/>
              <a:buNone/>
            </a:pPr>
            <a:r>
              <a:rPr b="0" i="0" lang="en" sz="1500" u="none" cap="none" strike="noStrike">
                <a:solidFill>
                  <a:srgbClr val="374151"/>
                </a:solidFill>
                <a:latin typeface="Times New Roman"/>
                <a:ea typeface="Times New Roman"/>
                <a:cs typeface="Times New Roman"/>
                <a:sym typeface="Times New Roman"/>
              </a:rPr>
              <a:t>Types of transformer and coil ratio : </a:t>
            </a:r>
            <a:endParaRPr b="0" i="0" sz="1500" u="none" cap="none" strike="noStrike">
              <a:solidFill>
                <a:srgbClr val="374151"/>
              </a:solidFill>
              <a:latin typeface="Times New Roman"/>
              <a:ea typeface="Times New Roman"/>
              <a:cs typeface="Times New Roman"/>
              <a:sym typeface="Times New Roman"/>
            </a:endParaRPr>
          </a:p>
          <a:p>
            <a:pPr indent="-323850" lvl="0" marL="457200" marR="0" rtl="0" algn="l">
              <a:lnSpc>
                <a:spcPct val="115000"/>
              </a:lnSpc>
              <a:spcBef>
                <a:spcPts val="1500"/>
              </a:spcBef>
              <a:spcAft>
                <a:spcPts val="0"/>
              </a:spcAft>
              <a:buClr>
                <a:srgbClr val="374151"/>
              </a:buClr>
              <a:buSzPts val="1500"/>
              <a:buFont typeface="Times New Roman"/>
              <a:buChar char="●"/>
            </a:pPr>
            <a:r>
              <a:rPr b="0" i="0" lang="en" sz="1500" u="none" cap="none" strike="noStrike">
                <a:solidFill>
                  <a:srgbClr val="374151"/>
                </a:solidFill>
                <a:latin typeface="Times New Roman"/>
                <a:ea typeface="Times New Roman"/>
                <a:cs typeface="Times New Roman"/>
                <a:sym typeface="Times New Roman"/>
              </a:rPr>
              <a:t>Step-down: n2 &lt; n1 ; n1/n2 &gt;1</a:t>
            </a:r>
            <a:endParaRPr b="0" i="0" sz="1500" u="none" cap="none" strike="noStrike">
              <a:solidFill>
                <a:srgbClr val="374151"/>
              </a:solidFill>
              <a:latin typeface="Times New Roman"/>
              <a:ea typeface="Times New Roman"/>
              <a:cs typeface="Times New Roman"/>
              <a:sym typeface="Times New Roman"/>
            </a:endParaRPr>
          </a:p>
          <a:p>
            <a:pPr indent="-323850" lvl="0" marL="457200" marR="0" rtl="0" algn="l">
              <a:lnSpc>
                <a:spcPct val="115000"/>
              </a:lnSpc>
              <a:spcBef>
                <a:spcPts val="0"/>
              </a:spcBef>
              <a:spcAft>
                <a:spcPts val="0"/>
              </a:spcAft>
              <a:buClr>
                <a:srgbClr val="374151"/>
              </a:buClr>
              <a:buSzPts val="1500"/>
              <a:buFont typeface="Times New Roman"/>
              <a:buChar char="●"/>
            </a:pPr>
            <a:r>
              <a:rPr b="0" i="0" lang="en" sz="1500" u="none" cap="none" strike="noStrike">
                <a:solidFill>
                  <a:srgbClr val="374151"/>
                </a:solidFill>
                <a:latin typeface="Times New Roman"/>
                <a:ea typeface="Times New Roman"/>
                <a:cs typeface="Times New Roman"/>
                <a:sym typeface="Times New Roman"/>
              </a:rPr>
              <a:t>Step-up: n2 &gt; n1; n1/n2 &lt;1</a:t>
            </a:r>
            <a:endParaRPr b="0" i="0" sz="1500" u="none" cap="none" strike="noStrike">
              <a:solidFill>
                <a:srgbClr val="374151"/>
              </a:solidFill>
              <a:latin typeface="Times New Roman"/>
              <a:ea typeface="Times New Roman"/>
              <a:cs typeface="Times New Roman"/>
              <a:sym typeface="Times New Roman"/>
            </a:endParaRPr>
          </a:p>
          <a:p>
            <a:pPr indent="0" lvl="0" marL="0" marR="0" rtl="0" algn="l">
              <a:lnSpc>
                <a:spcPct val="100000"/>
              </a:lnSpc>
              <a:spcBef>
                <a:spcPts val="150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nvSpPr>
        <p:spPr>
          <a:xfrm>
            <a:off x="557250" y="524050"/>
            <a:ext cx="7950300" cy="6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sng" cap="none" strike="noStrike">
                <a:solidFill>
                  <a:schemeClr val="dk2"/>
                </a:solidFill>
                <a:latin typeface="Overpass"/>
                <a:ea typeface="Overpass"/>
                <a:cs typeface="Overpass"/>
                <a:sym typeface="Overpass"/>
              </a:rPr>
              <a:t>Mutual Induction in Transformers </a:t>
            </a:r>
            <a:endParaRPr b="1" i="0" sz="2000" u="sng" cap="none" strike="noStrike">
              <a:solidFill>
                <a:schemeClr val="dk2"/>
              </a:solidFill>
              <a:latin typeface="Overpass"/>
              <a:ea typeface="Overpass"/>
              <a:cs typeface="Overpass"/>
              <a:sym typeface="Overpass"/>
            </a:endParaRPr>
          </a:p>
        </p:txBody>
      </p:sp>
      <p:pic>
        <p:nvPicPr>
          <p:cNvPr id="181" name="Google Shape;181;p8"/>
          <p:cNvPicPr preferRelativeResize="0"/>
          <p:nvPr/>
        </p:nvPicPr>
        <p:blipFill rotWithShape="1">
          <a:blip r:embed="rId3">
            <a:alphaModFix/>
          </a:blip>
          <a:srcRect b="0" l="0" r="0" t="6620"/>
          <a:stretch/>
        </p:blipFill>
        <p:spPr>
          <a:xfrm>
            <a:off x="763600" y="1467025"/>
            <a:ext cx="3316300" cy="2418750"/>
          </a:xfrm>
          <a:prstGeom prst="rect">
            <a:avLst/>
          </a:prstGeom>
          <a:noFill/>
          <a:ln>
            <a:noFill/>
          </a:ln>
        </p:spPr>
      </p:pic>
      <p:sp>
        <p:nvSpPr>
          <p:cNvPr id="182" name="Google Shape;182;p8"/>
          <p:cNvSpPr txBox="1"/>
          <p:nvPr/>
        </p:nvSpPr>
        <p:spPr>
          <a:xfrm>
            <a:off x="4202125" y="1133650"/>
            <a:ext cx="4562400" cy="341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Times New Roman"/>
                <a:ea typeface="Times New Roman"/>
                <a:cs typeface="Times New Roman"/>
                <a:sym typeface="Times New Roman"/>
              </a:rPr>
              <a:t>Mutual Induction refers to </a:t>
            </a:r>
            <a:r>
              <a:rPr b="1" i="0" lang="en" sz="1500" u="none" cap="none" strike="noStrike">
                <a:solidFill>
                  <a:srgbClr val="374151"/>
                </a:solidFill>
                <a:latin typeface="Times New Roman"/>
                <a:ea typeface="Times New Roman"/>
                <a:cs typeface="Times New Roman"/>
                <a:sym typeface="Times New Roman"/>
              </a:rPr>
              <a:t>when a changing magnetic field in one coil induces a voltage in a nearby coil.</a:t>
            </a:r>
            <a:endParaRPr b="1" i="0" sz="1500" u="none" cap="none" strike="noStrike">
              <a:solidFill>
                <a:srgbClr val="37415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374151"/>
              </a:solidFill>
              <a:latin typeface="Times New Roman"/>
              <a:ea typeface="Times New Roman"/>
              <a:cs typeface="Times New Roman"/>
              <a:sym typeface="Times New Roman"/>
            </a:endParaRPr>
          </a:p>
          <a:p>
            <a:pPr indent="-323850" lvl="0" marL="457200" marR="0" rtl="0" algn="just">
              <a:lnSpc>
                <a:spcPct val="115000"/>
              </a:lnSpc>
              <a:spcBef>
                <a:spcPts val="1500"/>
              </a:spcBef>
              <a:spcAft>
                <a:spcPts val="0"/>
              </a:spcAft>
              <a:buClr>
                <a:srgbClr val="374151"/>
              </a:buClr>
              <a:buSzPts val="1500"/>
              <a:buFont typeface="Times New Roman"/>
              <a:buChar char="●"/>
            </a:pPr>
            <a:r>
              <a:rPr b="0" i="0" lang="en" sz="1500" u="none" cap="none" strike="noStrike">
                <a:solidFill>
                  <a:srgbClr val="374151"/>
                </a:solidFill>
                <a:latin typeface="Times New Roman"/>
                <a:ea typeface="Times New Roman"/>
                <a:cs typeface="Times New Roman"/>
                <a:sym typeface="Times New Roman"/>
              </a:rPr>
              <a:t>AC Current &amp; Magnetic Field: AC current in the primary coil generates a changing magnetic field in the iron core.</a:t>
            </a:r>
            <a:endParaRPr b="0" i="0" sz="1500" u="none" cap="none" strike="noStrike">
              <a:solidFill>
                <a:srgbClr val="374151"/>
              </a:solidFill>
              <a:latin typeface="Times New Roman"/>
              <a:ea typeface="Times New Roman"/>
              <a:cs typeface="Times New Roman"/>
              <a:sym typeface="Times New Roman"/>
            </a:endParaRPr>
          </a:p>
          <a:p>
            <a:pPr indent="-323850" lvl="0" marL="457200" marR="0" rtl="0" algn="just">
              <a:lnSpc>
                <a:spcPct val="115000"/>
              </a:lnSpc>
              <a:spcBef>
                <a:spcPts val="0"/>
              </a:spcBef>
              <a:spcAft>
                <a:spcPts val="0"/>
              </a:spcAft>
              <a:buClr>
                <a:srgbClr val="374151"/>
              </a:buClr>
              <a:buSzPts val="1500"/>
              <a:buFont typeface="Times New Roman"/>
              <a:buChar char="●"/>
            </a:pPr>
            <a:r>
              <a:rPr b="0" i="0" lang="en" sz="1500" u="none" cap="none" strike="noStrike">
                <a:solidFill>
                  <a:srgbClr val="374151"/>
                </a:solidFill>
                <a:latin typeface="Times New Roman"/>
                <a:ea typeface="Times New Roman"/>
                <a:cs typeface="Times New Roman"/>
                <a:sym typeface="Times New Roman"/>
              </a:rPr>
              <a:t>Induction in Secondary Coil: Secondary coil, within the magnetic field, experiences induced EMF due to mutual induction.</a:t>
            </a:r>
            <a:endParaRPr b="0" i="0" sz="1500" u="none" cap="none" strike="noStrike">
              <a:solidFill>
                <a:srgbClr val="374151"/>
              </a:solidFill>
              <a:latin typeface="Times New Roman"/>
              <a:ea typeface="Times New Roman"/>
              <a:cs typeface="Times New Roman"/>
              <a:sym typeface="Times New Roman"/>
            </a:endParaRPr>
          </a:p>
          <a:p>
            <a:pPr indent="0" lvl="0" marL="0" marR="0" rtl="0" algn="l">
              <a:lnSpc>
                <a:spcPct val="100000"/>
              </a:lnSpc>
              <a:spcBef>
                <a:spcPts val="1500"/>
              </a:spcBef>
              <a:spcAft>
                <a:spcPts val="0"/>
              </a:spcAft>
              <a:buClr>
                <a:srgbClr val="000000"/>
              </a:buClr>
              <a:buSzPts val="1500"/>
              <a:buFont typeface="Arial"/>
              <a:buNone/>
            </a:pPr>
            <a:r>
              <a:t/>
            </a:r>
            <a:endParaRPr b="1" i="0" sz="1500" u="none" cap="none" strike="noStrike">
              <a:solidFill>
                <a:srgbClr val="37415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9"/>
          <p:cNvSpPr txBox="1"/>
          <p:nvPr/>
        </p:nvSpPr>
        <p:spPr>
          <a:xfrm>
            <a:off x="496900" y="455775"/>
            <a:ext cx="2619300" cy="81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sng" cap="none" strike="noStrike">
                <a:solidFill>
                  <a:schemeClr val="dk2"/>
                </a:solidFill>
                <a:latin typeface="Overpass"/>
                <a:ea typeface="Overpass"/>
                <a:cs typeface="Overpass"/>
                <a:sym typeface="Overpass"/>
              </a:rPr>
              <a:t>Rectification stage </a:t>
            </a:r>
            <a:endParaRPr b="1" i="0" sz="2000" u="sng" cap="none" strike="noStrike">
              <a:solidFill>
                <a:schemeClr val="dk2"/>
              </a:solidFill>
              <a:latin typeface="Overpass"/>
              <a:ea typeface="Overpass"/>
              <a:cs typeface="Overpass"/>
              <a:sym typeface="Overpass"/>
            </a:endParaRPr>
          </a:p>
        </p:txBody>
      </p:sp>
      <p:pic>
        <p:nvPicPr>
          <p:cNvPr id="188" name="Google Shape;188;p9"/>
          <p:cNvPicPr preferRelativeResize="0"/>
          <p:nvPr/>
        </p:nvPicPr>
        <p:blipFill rotWithShape="1">
          <a:blip r:embed="rId3">
            <a:alphaModFix/>
          </a:blip>
          <a:srcRect b="0" l="0" r="0" t="0"/>
          <a:stretch/>
        </p:blipFill>
        <p:spPr>
          <a:xfrm>
            <a:off x="496900" y="1151250"/>
            <a:ext cx="4499526" cy="2687500"/>
          </a:xfrm>
          <a:prstGeom prst="rect">
            <a:avLst/>
          </a:prstGeom>
          <a:noFill/>
          <a:ln>
            <a:noFill/>
          </a:ln>
        </p:spPr>
      </p:pic>
      <p:sp>
        <p:nvSpPr>
          <p:cNvPr id="189" name="Google Shape;189;p9"/>
          <p:cNvSpPr txBox="1"/>
          <p:nvPr/>
        </p:nvSpPr>
        <p:spPr>
          <a:xfrm>
            <a:off x="5307025" y="408950"/>
            <a:ext cx="2847900" cy="417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500"/>
              </a:spcBef>
              <a:spcAft>
                <a:spcPts val="0"/>
              </a:spcAft>
              <a:buClr>
                <a:srgbClr val="000000"/>
              </a:buClr>
              <a:buSzPts val="1200"/>
              <a:buFont typeface="Arial"/>
              <a:buNone/>
            </a:pPr>
            <a:r>
              <a:rPr b="1" i="0" lang="en" sz="1200" u="none" cap="none" strike="noStrike">
                <a:solidFill>
                  <a:srgbClr val="374151"/>
                </a:solidFill>
                <a:latin typeface="Times New Roman"/>
                <a:ea typeface="Times New Roman"/>
                <a:cs typeface="Times New Roman"/>
                <a:sym typeface="Times New Roman"/>
              </a:rPr>
              <a:t>Working Principle</a:t>
            </a:r>
            <a:endParaRPr b="1" i="0" sz="1200" u="none" cap="none" strike="noStrike">
              <a:solidFill>
                <a:srgbClr val="374151"/>
              </a:solidFill>
              <a:latin typeface="Times New Roman"/>
              <a:ea typeface="Times New Roman"/>
              <a:cs typeface="Times New Roman"/>
              <a:sym typeface="Times New Roman"/>
            </a:endParaRPr>
          </a:p>
          <a:p>
            <a:pPr indent="-304800" lvl="0" marL="457200" marR="0" rtl="0" algn="just">
              <a:lnSpc>
                <a:spcPct val="115000"/>
              </a:lnSpc>
              <a:spcBef>
                <a:spcPts val="1500"/>
              </a:spcBef>
              <a:spcAft>
                <a:spcPts val="0"/>
              </a:spcAft>
              <a:buClr>
                <a:srgbClr val="374151"/>
              </a:buClr>
              <a:buSzPts val="1200"/>
              <a:buFont typeface="Times New Roman"/>
              <a:buChar char="●"/>
            </a:pPr>
            <a:r>
              <a:rPr b="0" i="0" lang="en" sz="1200" u="none" cap="none" strike="noStrike">
                <a:solidFill>
                  <a:srgbClr val="374151"/>
                </a:solidFill>
                <a:latin typeface="Times New Roman"/>
                <a:ea typeface="Times New Roman"/>
                <a:cs typeface="Times New Roman"/>
                <a:sym typeface="Times New Roman"/>
              </a:rPr>
              <a:t>Four diodes arranged in a simple  bridge-like setup</a:t>
            </a:r>
            <a:endParaRPr b="0" i="0" sz="1200" u="none" cap="none" strike="noStrike">
              <a:solidFill>
                <a:srgbClr val="374151"/>
              </a:solidFill>
              <a:latin typeface="Times New Roman"/>
              <a:ea typeface="Times New Roman"/>
              <a:cs typeface="Times New Roman"/>
              <a:sym typeface="Times New Roman"/>
            </a:endParaRPr>
          </a:p>
          <a:p>
            <a:pPr indent="-304800" lvl="0" marL="457200" marR="0" rtl="0" algn="just">
              <a:lnSpc>
                <a:spcPct val="115000"/>
              </a:lnSpc>
              <a:spcBef>
                <a:spcPts val="0"/>
              </a:spcBef>
              <a:spcAft>
                <a:spcPts val="0"/>
              </a:spcAft>
              <a:buClr>
                <a:srgbClr val="374151"/>
              </a:buClr>
              <a:buSzPts val="1200"/>
              <a:buFont typeface="Times New Roman"/>
              <a:buChar char="●"/>
            </a:pPr>
            <a:r>
              <a:rPr b="0" i="0" lang="en" sz="1200" u="none" cap="none" strike="noStrike">
                <a:solidFill>
                  <a:srgbClr val="374151"/>
                </a:solidFill>
                <a:latin typeface="Times New Roman"/>
                <a:ea typeface="Times New Roman"/>
                <a:cs typeface="Times New Roman"/>
                <a:sym typeface="Times New Roman"/>
              </a:rPr>
              <a:t>AC Input is Connected to two diagonally opposite points of the bridge.</a:t>
            </a:r>
            <a:endParaRPr b="0" i="0" sz="1200" u="none" cap="none" strike="noStrike">
              <a:solidFill>
                <a:srgbClr val="374151"/>
              </a:solidFill>
              <a:latin typeface="Times New Roman"/>
              <a:ea typeface="Times New Roman"/>
              <a:cs typeface="Times New Roman"/>
              <a:sym typeface="Times New Roman"/>
            </a:endParaRPr>
          </a:p>
          <a:p>
            <a:pPr indent="0" lvl="0" marL="0" marR="0" rtl="0" algn="l">
              <a:lnSpc>
                <a:spcPct val="115000"/>
              </a:lnSpc>
              <a:spcBef>
                <a:spcPts val="1500"/>
              </a:spcBef>
              <a:spcAft>
                <a:spcPts val="0"/>
              </a:spcAft>
              <a:buClr>
                <a:srgbClr val="000000"/>
              </a:buClr>
              <a:buSzPts val="1200"/>
              <a:buFont typeface="Arial"/>
              <a:buNone/>
            </a:pPr>
            <a:r>
              <a:rPr b="1" i="0" lang="en" sz="1200" u="none" cap="none" strike="noStrike">
                <a:solidFill>
                  <a:srgbClr val="374151"/>
                </a:solidFill>
                <a:latin typeface="Times New Roman"/>
                <a:ea typeface="Times New Roman"/>
                <a:cs typeface="Times New Roman"/>
                <a:sym typeface="Times New Roman"/>
              </a:rPr>
              <a:t>Rectification Process</a:t>
            </a:r>
            <a:endParaRPr b="1" i="0" sz="1200" u="none" cap="none" strike="noStrike">
              <a:solidFill>
                <a:srgbClr val="374151"/>
              </a:solidFill>
              <a:latin typeface="Times New Roman"/>
              <a:ea typeface="Times New Roman"/>
              <a:cs typeface="Times New Roman"/>
              <a:sym typeface="Times New Roman"/>
            </a:endParaRPr>
          </a:p>
          <a:p>
            <a:pPr indent="-304800" lvl="0" marL="457200" marR="0" rtl="0" algn="just">
              <a:lnSpc>
                <a:spcPct val="115000"/>
              </a:lnSpc>
              <a:spcBef>
                <a:spcPts val="1500"/>
              </a:spcBef>
              <a:spcAft>
                <a:spcPts val="0"/>
              </a:spcAft>
              <a:buClr>
                <a:srgbClr val="374151"/>
              </a:buClr>
              <a:buSzPts val="1200"/>
              <a:buFont typeface="Times New Roman"/>
              <a:buChar char="●"/>
            </a:pPr>
            <a:r>
              <a:rPr b="0" i="0" lang="en" sz="1200" u="none" cap="none" strike="noStrike">
                <a:solidFill>
                  <a:srgbClr val="374151"/>
                </a:solidFill>
                <a:latin typeface="Times New Roman"/>
                <a:ea typeface="Times New Roman"/>
                <a:cs typeface="Times New Roman"/>
                <a:sym typeface="Times New Roman"/>
              </a:rPr>
              <a:t>Efficiently utilizes both Halves: Harnesses both positive and negative halves of the AC input.</a:t>
            </a:r>
            <a:endParaRPr b="0" i="0" sz="1200" u="none" cap="none" strike="noStrike">
              <a:solidFill>
                <a:srgbClr val="374151"/>
              </a:solidFill>
              <a:latin typeface="Times New Roman"/>
              <a:ea typeface="Times New Roman"/>
              <a:cs typeface="Times New Roman"/>
              <a:sym typeface="Times New Roman"/>
            </a:endParaRPr>
          </a:p>
          <a:p>
            <a:pPr indent="-304800" lvl="0" marL="457200" marR="0" rtl="0" algn="just">
              <a:lnSpc>
                <a:spcPct val="115000"/>
              </a:lnSpc>
              <a:spcBef>
                <a:spcPts val="0"/>
              </a:spcBef>
              <a:spcAft>
                <a:spcPts val="0"/>
              </a:spcAft>
              <a:buClr>
                <a:srgbClr val="374151"/>
              </a:buClr>
              <a:buSzPts val="1200"/>
              <a:buFont typeface="Times New Roman"/>
              <a:buChar char="●"/>
            </a:pPr>
            <a:r>
              <a:rPr b="0" i="0" lang="en" sz="1200" u="none" cap="none" strike="noStrike">
                <a:solidFill>
                  <a:srgbClr val="374151"/>
                </a:solidFill>
                <a:latin typeface="Times New Roman"/>
                <a:ea typeface="Times New Roman"/>
                <a:cs typeface="Times New Roman"/>
                <a:sym typeface="Times New Roman"/>
              </a:rPr>
              <a:t>Direction Control: Ensures current flows from positive to negative ends of the load.</a:t>
            </a:r>
            <a:endParaRPr b="0" i="0" sz="1200" u="none" cap="none" strike="noStrike">
              <a:solidFill>
                <a:srgbClr val="374151"/>
              </a:solidFill>
              <a:latin typeface="Times New Roman"/>
              <a:ea typeface="Times New Roman"/>
              <a:cs typeface="Times New Roman"/>
              <a:sym typeface="Times New Roman"/>
            </a:endParaRPr>
          </a:p>
          <a:p>
            <a:pPr indent="-304800" lvl="0" marL="457200" marR="0" rtl="0" algn="just">
              <a:lnSpc>
                <a:spcPct val="115000"/>
              </a:lnSpc>
              <a:spcBef>
                <a:spcPts val="0"/>
              </a:spcBef>
              <a:spcAft>
                <a:spcPts val="0"/>
              </a:spcAft>
              <a:buClr>
                <a:srgbClr val="374151"/>
              </a:buClr>
              <a:buSzPts val="1200"/>
              <a:buFont typeface="Times New Roman"/>
              <a:buChar char="●"/>
            </a:pPr>
            <a:r>
              <a:rPr b="0" i="0" lang="en" sz="1200" u="none" cap="none" strike="noStrike">
                <a:solidFill>
                  <a:srgbClr val="374151"/>
                </a:solidFill>
                <a:latin typeface="Times New Roman"/>
                <a:ea typeface="Times New Roman"/>
                <a:cs typeface="Times New Roman"/>
                <a:sym typeface="Times New Roman"/>
              </a:rPr>
              <a:t>Pulsating DC Output: Conversion from alternating to pulsating direct current.</a:t>
            </a:r>
            <a:endParaRPr b="0" i="0" sz="1200" u="none" cap="none" strike="noStrike">
              <a:solidFill>
                <a:schemeClr val="dk2"/>
              </a:solidFill>
              <a:latin typeface="Calibri"/>
              <a:ea typeface="Calibri"/>
              <a:cs typeface="Calibri"/>
              <a:sym typeface="Calibri"/>
            </a:endParaRPr>
          </a:p>
        </p:txBody>
      </p:sp>
      <p:sp>
        <p:nvSpPr>
          <p:cNvPr id="190" name="Google Shape;190;p9"/>
          <p:cNvSpPr txBox="1"/>
          <p:nvPr/>
        </p:nvSpPr>
        <p:spPr>
          <a:xfrm>
            <a:off x="773125" y="4094325"/>
            <a:ext cx="4371900" cy="42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Calibri"/>
                <a:ea typeface="Calibri"/>
                <a:cs typeface="Calibri"/>
                <a:sym typeface="Calibri"/>
              </a:rPr>
              <a:t>Full wave bridge rectifier </a:t>
            </a:r>
            <a:endParaRPr b="0" i="0" sz="1300" u="none" cap="none" strike="noStrike">
              <a:solidFill>
                <a:schemeClr val="dk2"/>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txBox="1"/>
          <p:nvPr/>
        </p:nvSpPr>
        <p:spPr>
          <a:xfrm>
            <a:off x="430225" y="404975"/>
            <a:ext cx="81153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2000"/>
              <a:buFont typeface="Arial"/>
              <a:buNone/>
            </a:pPr>
            <a:r>
              <a:rPr b="1" i="0" lang="en" sz="2000" u="sng" cap="none" strike="noStrike">
                <a:solidFill>
                  <a:srgbClr val="000000"/>
                </a:solidFill>
                <a:latin typeface="Arial"/>
                <a:ea typeface="Arial"/>
                <a:cs typeface="Arial"/>
                <a:sym typeface="Arial"/>
              </a:rPr>
              <a:t>Role of capacitor is smoothing the pulsating DC signal: </a:t>
            </a:r>
            <a:endParaRPr b="1" i="0" sz="2000" u="sng"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500"/>
              <a:buFont typeface="Arial"/>
              <a:buNone/>
            </a:pPr>
            <a:r>
              <a:rPr b="0" i="0" lang="en" sz="1500" u="none" cap="none" strike="noStrike">
                <a:solidFill>
                  <a:schemeClr val="dk2"/>
                </a:solidFill>
                <a:latin typeface="Times New Roman"/>
                <a:ea typeface="Times New Roman"/>
                <a:cs typeface="Times New Roman"/>
                <a:sym typeface="Times New Roman"/>
              </a:rPr>
              <a:t>A capacitor is used to smooth a pulsating DC circuit. As the voltage of the varying DC voltage starts to decrease the capacitor starts discharging and maintains a relatively stable voltage signal.  The value of the capacitance depends of the value of how much current we are expecting through the load resistor, frequency of AC signal and how much ripple we are trying to smooth out. </a:t>
            </a:r>
            <a:endParaRPr b="0" i="0" sz="1500" u="none" cap="none" strike="noStrike">
              <a:solidFill>
                <a:schemeClr val="dk2"/>
              </a:solidFill>
              <a:latin typeface="Times New Roman"/>
              <a:ea typeface="Times New Roman"/>
              <a:cs typeface="Times New Roman"/>
              <a:sym typeface="Times New Roman"/>
            </a:endParaRPr>
          </a:p>
        </p:txBody>
      </p:sp>
      <p:pic>
        <p:nvPicPr>
          <p:cNvPr id="196" name="Google Shape;196;p10"/>
          <p:cNvPicPr preferRelativeResize="0"/>
          <p:nvPr/>
        </p:nvPicPr>
        <p:blipFill rotWithShape="1">
          <a:blip r:embed="rId3">
            <a:alphaModFix/>
          </a:blip>
          <a:srcRect b="0" l="36343" r="2606" t="0"/>
          <a:stretch/>
        </p:blipFill>
        <p:spPr>
          <a:xfrm>
            <a:off x="430225" y="2176550"/>
            <a:ext cx="4867274" cy="2438400"/>
          </a:xfrm>
          <a:prstGeom prst="rect">
            <a:avLst/>
          </a:prstGeom>
          <a:noFill/>
          <a:ln>
            <a:noFill/>
          </a:ln>
        </p:spPr>
      </p:pic>
      <p:sp>
        <p:nvSpPr>
          <p:cNvPr id="197" name="Google Shape;197;p10"/>
          <p:cNvSpPr/>
          <p:nvPr/>
        </p:nvSpPr>
        <p:spPr>
          <a:xfrm>
            <a:off x="420700" y="2465550"/>
            <a:ext cx="657300" cy="409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98" name="Google Shape;198;p10"/>
          <p:cNvPicPr preferRelativeResize="0"/>
          <p:nvPr/>
        </p:nvPicPr>
        <p:blipFill rotWithShape="1">
          <a:blip r:embed="rId4">
            <a:alphaModFix/>
          </a:blip>
          <a:srcRect b="15657" l="10664" r="17279" t="26966"/>
          <a:stretch/>
        </p:blipFill>
        <p:spPr>
          <a:xfrm>
            <a:off x="5926225" y="2770350"/>
            <a:ext cx="1828725" cy="761975"/>
          </a:xfrm>
          <a:prstGeom prst="rect">
            <a:avLst/>
          </a:prstGeom>
          <a:noFill/>
          <a:ln>
            <a:noFill/>
          </a:ln>
        </p:spPr>
      </p:pic>
      <p:sp>
        <p:nvSpPr>
          <p:cNvPr id="199" name="Google Shape;199;p10"/>
          <p:cNvSpPr txBox="1"/>
          <p:nvPr/>
        </p:nvSpPr>
        <p:spPr>
          <a:xfrm>
            <a:off x="5821225" y="2176550"/>
            <a:ext cx="2724300" cy="50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Calibri"/>
                <a:ea typeface="Calibri"/>
                <a:cs typeface="Calibri"/>
                <a:sym typeface="Calibri"/>
              </a:rPr>
              <a:t>The value of the capacitance follows the equation - </a:t>
            </a:r>
            <a:endParaRPr b="0" i="0" sz="1300" u="none" cap="none" strike="noStrike">
              <a:solidFill>
                <a:schemeClr val="dk2"/>
              </a:solidFill>
              <a:latin typeface="Calibri"/>
              <a:ea typeface="Calibri"/>
              <a:cs typeface="Calibri"/>
              <a:sym typeface="Calibri"/>
            </a:endParaRPr>
          </a:p>
        </p:txBody>
      </p:sp>
      <p:sp>
        <p:nvSpPr>
          <p:cNvPr id="200" name="Google Shape;200;p10"/>
          <p:cNvSpPr txBox="1"/>
          <p:nvPr/>
        </p:nvSpPr>
        <p:spPr>
          <a:xfrm>
            <a:off x="5887825" y="3532325"/>
            <a:ext cx="2591100" cy="89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Calibri"/>
                <a:ea typeface="Calibri"/>
                <a:cs typeface="Calibri"/>
                <a:sym typeface="Calibri"/>
              </a:rPr>
              <a:t>We can understand from the equation that increasing the value of capacitance will result in better smoothing and Ripple voltage to reduce. </a:t>
            </a:r>
            <a:endParaRPr b="0" i="0" sz="13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nvSpPr>
        <p:spPr>
          <a:xfrm>
            <a:off x="487375" y="493875"/>
            <a:ext cx="4819800" cy="70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sng" cap="none" strike="noStrike">
                <a:solidFill>
                  <a:schemeClr val="dk2"/>
                </a:solidFill>
                <a:latin typeface="Overpass"/>
                <a:ea typeface="Overpass"/>
                <a:cs typeface="Overpass"/>
                <a:sym typeface="Overpass"/>
              </a:rPr>
              <a:t>Voltage regulation and Potentiometer</a:t>
            </a:r>
            <a:endParaRPr b="1" i="0" sz="2000" u="sng" cap="none" strike="noStrike">
              <a:solidFill>
                <a:schemeClr val="dk2"/>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2"/>
                </a:solidFill>
                <a:latin typeface="Overpass"/>
                <a:ea typeface="Overpass"/>
                <a:cs typeface="Overpass"/>
                <a:sym typeface="Overpass"/>
              </a:rPr>
              <a:t> </a:t>
            </a:r>
            <a:endParaRPr b="0" i="0" sz="2000" u="none" cap="none" strike="noStrike">
              <a:solidFill>
                <a:schemeClr val="dk2"/>
              </a:solidFill>
              <a:latin typeface="Overpass"/>
              <a:ea typeface="Overpass"/>
              <a:cs typeface="Overpass"/>
              <a:sym typeface="Overpass"/>
            </a:endParaRPr>
          </a:p>
        </p:txBody>
      </p:sp>
      <p:sp>
        <p:nvSpPr>
          <p:cNvPr id="206" name="Google Shape;206;p11"/>
          <p:cNvSpPr txBox="1"/>
          <p:nvPr/>
        </p:nvSpPr>
        <p:spPr>
          <a:xfrm>
            <a:off x="552450" y="1017750"/>
            <a:ext cx="8039100" cy="374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Times New Roman"/>
                <a:ea typeface="Times New Roman"/>
                <a:cs typeface="Times New Roman"/>
                <a:sym typeface="Times New Roman"/>
              </a:rPr>
              <a:t>Voltage regulator is a system designed to maintain a constant voltage irrespective of the input voltage. </a:t>
            </a:r>
            <a:endParaRPr b="1" i="0" sz="1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Times New Roman"/>
                <a:ea typeface="Times New Roman"/>
                <a:cs typeface="Times New Roman"/>
                <a:sym typeface="Times New Roman"/>
              </a:rPr>
              <a:t>A variable voltage regulator is a type of regulator which we can use to adjust voltage, maintain </a:t>
            </a:r>
            <a:endParaRPr b="0" i="0" sz="13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Times New Roman"/>
                <a:ea typeface="Times New Roman"/>
                <a:cs typeface="Times New Roman"/>
                <a:sym typeface="Times New Roman"/>
              </a:rPr>
              <a:t>voltage of a certain value, and regulate it using external elements.</a:t>
            </a:r>
            <a:endParaRPr b="0" i="0" sz="13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Times New Roman"/>
                <a:ea typeface="Times New Roman"/>
                <a:cs typeface="Times New Roman"/>
                <a:sym typeface="Times New Roman"/>
              </a:rPr>
              <a:t> LM317 is a linear variable voltage regulator. </a:t>
            </a:r>
            <a:endParaRPr b="0" i="0" sz="13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Times New Roman"/>
                <a:ea typeface="Times New Roman"/>
                <a:cs typeface="Times New Roman"/>
                <a:sym typeface="Times New Roman"/>
              </a:rPr>
              <a:t>The Output voltage of this regulator is determined by the formula -</a:t>
            </a:r>
            <a:r>
              <a:rPr b="1" i="1" lang="en" sz="1300" u="none" cap="none" strike="noStrike">
                <a:solidFill>
                  <a:schemeClr val="dk2"/>
                </a:solidFill>
                <a:latin typeface="Times New Roman"/>
                <a:ea typeface="Times New Roman"/>
                <a:cs typeface="Times New Roman"/>
                <a:sym typeface="Times New Roman"/>
              </a:rPr>
              <a:t> </a:t>
            </a:r>
            <a:r>
              <a:rPr b="1" i="1" lang="en" sz="1300" u="none" cap="none" strike="noStrike">
                <a:solidFill>
                  <a:srgbClr val="000000"/>
                </a:solidFill>
                <a:latin typeface="Times New Roman"/>
                <a:ea typeface="Times New Roman"/>
                <a:cs typeface="Times New Roman"/>
                <a:sym typeface="Times New Roman"/>
              </a:rPr>
              <a:t>V</a:t>
            </a:r>
            <a:r>
              <a:rPr b="1" baseline="-25000" i="1" lang="en" sz="1300" u="none" cap="none" strike="noStrike">
                <a:solidFill>
                  <a:srgbClr val="000000"/>
                </a:solidFill>
                <a:latin typeface="Times New Roman"/>
                <a:ea typeface="Times New Roman"/>
                <a:cs typeface="Times New Roman"/>
                <a:sym typeface="Times New Roman"/>
              </a:rPr>
              <a:t>out</a:t>
            </a:r>
            <a:r>
              <a:rPr b="1" i="1" lang="en" sz="1300" u="none" cap="none" strike="noStrike">
                <a:solidFill>
                  <a:srgbClr val="000000"/>
                </a:solidFill>
                <a:latin typeface="Times New Roman"/>
                <a:ea typeface="Times New Roman"/>
                <a:cs typeface="Times New Roman"/>
                <a:sym typeface="Times New Roman"/>
              </a:rPr>
              <a:t> = 1.25 {1+ (R1/R2)}</a:t>
            </a:r>
            <a:endParaRPr b="1" i="1" sz="1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Times New Roman"/>
                <a:ea typeface="Times New Roman"/>
                <a:cs typeface="Times New Roman"/>
                <a:sym typeface="Times New Roman"/>
              </a:rPr>
              <a:t>In this formula R1 a fixed value resistor, whereas R2 is variable resistor which we regulate and adjust </a:t>
            </a:r>
            <a:endParaRPr b="0" i="0" sz="1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Times New Roman"/>
                <a:ea typeface="Times New Roman"/>
                <a:cs typeface="Times New Roman"/>
                <a:sym typeface="Times New Roman"/>
              </a:rPr>
              <a:t>Vout accordingly. </a:t>
            </a:r>
            <a:endParaRPr b="0" i="0" sz="1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122"/>
                </a:solidFill>
                <a:highlight>
                  <a:srgbClr val="FFFFFF"/>
                </a:highlight>
                <a:latin typeface="Times New Roman"/>
                <a:ea typeface="Times New Roman"/>
                <a:cs typeface="Times New Roman"/>
                <a:sym typeface="Times New Roman"/>
              </a:rPr>
              <a:t>A </a:t>
            </a:r>
            <a:r>
              <a:rPr b="1" i="0" lang="en" sz="1400" u="none" cap="none" strike="noStrike">
                <a:solidFill>
                  <a:srgbClr val="202122"/>
                </a:solidFill>
                <a:highlight>
                  <a:srgbClr val="FFFFFF"/>
                </a:highlight>
                <a:latin typeface="Times New Roman"/>
                <a:ea typeface="Times New Roman"/>
                <a:cs typeface="Times New Roman"/>
                <a:sym typeface="Times New Roman"/>
              </a:rPr>
              <a:t>potentiometer</a:t>
            </a:r>
            <a:r>
              <a:rPr b="0" i="0" lang="en" sz="1400" u="none" cap="none" strike="noStrike">
                <a:solidFill>
                  <a:srgbClr val="202122"/>
                </a:solidFill>
                <a:highlight>
                  <a:srgbClr val="FFFFFF"/>
                </a:highlight>
                <a:latin typeface="Times New Roman"/>
                <a:ea typeface="Times New Roman"/>
                <a:cs typeface="Times New Roman"/>
                <a:sym typeface="Times New Roman"/>
              </a:rPr>
              <a:t> is a three-terminal resistor with a sliding or rotating contact that forms an </a:t>
            </a:r>
            <a:endParaRPr b="0" i="0" sz="14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122"/>
                </a:solidFill>
                <a:highlight>
                  <a:srgbClr val="FFFFFF"/>
                </a:highlight>
                <a:latin typeface="Times New Roman"/>
                <a:ea typeface="Times New Roman"/>
                <a:cs typeface="Times New Roman"/>
                <a:sym typeface="Times New Roman"/>
              </a:rPr>
              <a:t>adjustable voltage divider. If only two terminals are used, one end and the wiper, it acts as a</a:t>
            </a:r>
            <a:endParaRPr b="0" i="0" sz="14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202122"/>
                </a:solidFill>
                <a:highlight>
                  <a:srgbClr val="FFFFFF"/>
                </a:highlight>
                <a:latin typeface="Times New Roman"/>
                <a:ea typeface="Times New Roman"/>
                <a:cs typeface="Times New Roman"/>
                <a:sym typeface="Times New Roman"/>
              </a:rPr>
              <a:t>variable resistor</a:t>
            </a:r>
            <a:r>
              <a:rPr b="0" i="0" lang="en" sz="1400" u="none" cap="none" strike="noStrike">
                <a:solidFill>
                  <a:srgbClr val="202122"/>
                </a:solidFill>
                <a:highlight>
                  <a:srgbClr val="FFFFFF"/>
                </a:highlight>
                <a:latin typeface="Times New Roman"/>
                <a:ea typeface="Times New Roman"/>
                <a:cs typeface="Times New Roman"/>
                <a:sym typeface="Times New Roman"/>
              </a:rPr>
              <a:t> or </a:t>
            </a:r>
            <a:r>
              <a:rPr b="1" i="0" lang="en" sz="1400" u="none" cap="none" strike="noStrike">
                <a:solidFill>
                  <a:srgbClr val="202122"/>
                </a:solidFill>
                <a:highlight>
                  <a:srgbClr val="FFFFFF"/>
                </a:highlight>
                <a:latin typeface="Times New Roman"/>
                <a:ea typeface="Times New Roman"/>
                <a:cs typeface="Times New Roman"/>
                <a:sym typeface="Times New Roman"/>
              </a:rPr>
              <a:t>rheostat</a:t>
            </a:r>
            <a:r>
              <a:rPr b="0" i="0" lang="en" sz="1200" u="none" cap="none" strike="noStrike">
                <a:solidFill>
                  <a:srgbClr val="202122"/>
                </a:solidFill>
                <a:highlight>
                  <a:srgbClr val="FFFFFF"/>
                </a:highlight>
                <a:latin typeface="Times New Roman"/>
                <a:ea typeface="Times New Roman"/>
                <a:cs typeface="Times New Roman"/>
                <a:sym typeface="Times New Roman"/>
              </a:rPr>
              <a:t>. </a:t>
            </a:r>
            <a:endParaRPr b="0" i="0" sz="12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202122"/>
                </a:solidFill>
                <a:highlight>
                  <a:srgbClr val="FFFFFF"/>
                </a:highlight>
                <a:latin typeface="Times New Roman"/>
                <a:ea typeface="Times New Roman"/>
                <a:cs typeface="Times New Roman"/>
                <a:sym typeface="Times New Roman"/>
              </a:rPr>
              <a:t>We use a resistor in the circuit to adjust the value of R2. </a:t>
            </a:r>
            <a:endParaRPr b="0" i="0" sz="12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pic>
        <p:nvPicPr>
          <p:cNvPr id="207" name="Google Shape;207;p11"/>
          <p:cNvPicPr preferRelativeResize="0"/>
          <p:nvPr/>
        </p:nvPicPr>
        <p:blipFill rotWithShape="1">
          <a:blip r:embed="rId3">
            <a:alphaModFix/>
          </a:blip>
          <a:srcRect b="6682" l="0" r="0" t="6186"/>
          <a:stretch/>
        </p:blipFill>
        <p:spPr>
          <a:xfrm>
            <a:off x="7431100" y="1367000"/>
            <a:ext cx="1160450" cy="2067025"/>
          </a:xfrm>
          <a:prstGeom prst="rect">
            <a:avLst/>
          </a:prstGeom>
          <a:noFill/>
          <a:ln>
            <a:noFill/>
          </a:ln>
        </p:spPr>
      </p:pic>
      <p:pic>
        <p:nvPicPr>
          <p:cNvPr id="208" name="Google Shape;208;p11"/>
          <p:cNvPicPr preferRelativeResize="0"/>
          <p:nvPr/>
        </p:nvPicPr>
        <p:blipFill rotWithShape="1">
          <a:blip r:embed="rId4">
            <a:alphaModFix/>
          </a:blip>
          <a:srcRect b="4643" l="6254" r="6263" t="4488"/>
          <a:stretch/>
        </p:blipFill>
        <p:spPr>
          <a:xfrm>
            <a:off x="7350938" y="3434025"/>
            <a:ext cx="1322375" cy="1328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767300" y="513750"/>
            <a:ext cx="3309900" cy="48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990"/>
              <a:buNone/>
            </a:pPr>
            <a:r>
              <a:rPr b="1" lang="en" sz="1804">
                <a:solidFill>
                  <a:srgbClr val="000000"/>
                </a:solidFill>
                <a:latin typeface="Arial"/>
                <a:ea typeface="Arial"/>
                <a:cs typeface="Arial"/>
                <a:sym typeface="Arial"/>
              </a:rPr>
              <a:t>Load Regulation</a:t>
            </a:r>
            <a:r>
              <a:rPr b="1" lang="en" sz="2200">
                <a:solidFill>
                  <a:srgbClr val="000000"/>
                </a:solidFill>
                <a:latin typeface="Overpass"/>
                <a:ea typeface="Overpass"/>
                <a:cs typeface="Overpass"/>
                <a:sym typeface="Overpass"/>
              </a:rPr>
              <a:t>:</a:t>
            </a:r>
            <a:endParaRPr b="1" sz="2200">
              <a:solidFill>
                <a:srgbClr val="000000"/>
              </a:solidFill>
              <a:latin typeface="Overpass"/>
              <a:ea typeface="Overpass"/>
              <a:cs typeface="Overpass"/>
              <a:sym typeface="Overpass"/>
            </a:endParaRPr>
          </a:p>
          <a:p>
            <a:pPr indent="0" lvl="0" marL="0" rtl="0" algn="l">
              <a:lnSpc>
                <a:spcPct val="100000"/>
              </a:lnSpc>
              <a:spcBef>
                <a:spcPts val="1200"/>
              </a:spcBef>
              <a:spcAft>
                <a:spcPts val="0"/>
              </a:spcAft>
              <a:buSzPts val="990"/>
              <a:buNone/>
            </a:pPr>
            <a:r>
              <a:t/>
            </a:r>
            <a:endParaRPr sz="2700"/>
          </a:p>
        </p:txBody>
      </p:sp>
      <p:pic>
        <p:nvPicPr>
          <p:cNvPr id="214" name="Google Shape;214;p12"/>
          <p:cNvPicPr preferRelativeResize="0"/>
          <p:nvPr/>
        </p:nvPicPr>
        <p:blipFill rotWithShape="1">
          <a:blip r:embed="rId3">
            <a:alphaModFix/>
          </a:blip>
          <a:srcRect b="0" l="0" r="0" t="0"/>
          <a:stretch/>
        </p:blipFill>
        <p:spPr>
          <a:xfrm>
            <a:off x="4797956" y="967875"/>
            <a:ext cx="3767494" cy="3207750"/>
          </a:xfrm>
          <a:prstGeom prst="rect">
            <a:avLst/>
          </a:prstGeom>
          <a:noFill/>
          <a:ln>
            <a:noFill/>
          </a:ln>
        </p:spPr>
      </p:pic>
      <p:sp>
        <p:nvSpPr>
          <p:cNvPr id="215" name="Google Shape;215;p12"/>
          <p:cNvSpPr txBox="1"/>
          <p:nvPr/>
        </p:nvSpPr>
        <p:spPr>
          <a:xfrm>
            <a:off x="-1355750" y="-352800"/>
            <a:ext cx="5708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
        <p:nvSpPr>
          <p:cNvPr id="216" name="Google Shape;216;p12"/>
          <p:cNvSpPr txBox="1"/>
          <p:nvPr/>
        </p:nvSpPr>
        <p:spPr>
          <a:xfrm>
            <a:off x="874075" y="1347150"/>
            <a:ext cx="2864100" cy="24936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Using Operational Amplifier as a Feedback Mechanism in order to maintain stability and get desired output.</a:t>
            </a:r>
            <a:endParaRPr b="1" i="0" sz="1500" u="none" cap="none" strike="noStrike">
              <a:solidFill>
                <a:srgbClr val="00000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Using feedback loop to Ensuring stable output voltage under varying loads.</a:t>
            </a:r>
            <a:r>
              <a:rPr b="0" i="0" lang="en" sz="1500" u="none" cap="none" strike="noStrike">
                <a:solidFill>
                  <a:srgbClr val="000000"/>
                </a:solidFill>
                <a:latin typeface="Arial"/>
                <a:ea typeface="Arial"/>
                <a:cs typeface="Arial"/>
                <a:sym typeface="Arial"/>
              </a:rPr>
              <a:t> </a:t>
            </a:r>
            <a:endParaRPr b="1" i="0" sz="1500" u="none" cap="none" strike="noStrike">
              <a:solidFill>
                <a:srgbClr val="000000"/>
              </a:solidFill>
              <a:latin typeface="Arial"/>
              <a:ea typeface="Arial"/>
              <a:cs typeface="Arial"/>
              <a:sym typeface="Arial"/>
            </a:endParaRPr>
          </a:p>
        </p:txBody>
      </p:sp>
      <p:sp>
        <p:nvSpPr>
          <p:cNvPr id="217" name="Google Shape;217;p12"/>
          <p:cNvSpPr txBox="1"/>
          <p:nvPr/>
        </p:nvSpPr>
        <p:spPr>
          <a:xfrm>
            <a:off x="3708475" y="4390300"/>
            <a:ext cx="5054400" cy="3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Calibri"/>
                <a:ea typeface="Calibri"/>
                <a:cs typeface="Calibri"/>
                <a:sym typeface="Calibri"/>
              </a:rPr>
              <a:t>Source:https://www.google.com/url?sa=i&amp;url=https%3A%2F%2Fresources.pcb.cadence.com</a:t>
            </a:r>
            <a:endParaRPr b="0" i="0" sz="1300" u="none" cap="none" strike="noStrike">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type="title"/>
          </p:nvPr>
        </p:nvSpPr>
        <p:spPr>
          <a:xfrm>
            <a:off x="3170400" y="490850"/>
            <a:ext cx="2803200" cy="48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990"/>
              <a:buNone/>
            </a:pPr>
            <a:r>
              <a:rPr b="1" lang="en" sz="1804">
                <a:solidFill>
                  <a:srgbClr val="000000"/>
                </a:solidFill>
                <a:latin typeface="Arial"/>
                <a:ea typeface="Arial"/>
                <a:cs typeface="Arial"/>
                <a:sym typeface="Arial"/>
              </a:rPr>
              <a:t>Practical Applications</a:t>
            </a:r>
            <a:endParaRPr b="1" sz="2200">
              <a:solidFill>
                <a:srgbClr val="000000"/>
              </a:solidFill>
              <a:latin typeface="Overpass"/>
              <a:ea typeface="Overpass"/>
              <a:cs typeface="Overpass"/>
              <a:sym typeface="Overpass"/>
            </a:endParaRPr>
          </a:p>
          <a:p>
            <a:pPr indent="0" lvl="0" marL="0" rtl="0" algn="l">
              <a:lnSpc>
                <a:spcPct val="100000"/>
              </a:lnSpc>
              <a:spcBef>
                <a:spcPts val="1200"/>
              </a:spcBef>
              <a:spcAft>
                <a:spcPts val="0"/>
              </a:spcAft>
              <a:buSzPts val="990"/>
              <a:buNone/>
            </a:pPr>
            <a:r>
              <a:t/>
            </a:r>
            <a:endParaRPr sz="2700"/>
          </a:p>
        </p:txBody>
      </p:sp>
      <p:sp>
        <p:nvSpPr>
          <p:cNvPr id="223" name="Google Shape;223;p13"/>
          <p:cNvSpPr txBox="1"/>
          <p:nvPr/>
        </p:nvSpPr>
        <p:spPr>
          <a:xfrm>
            <a:off x="-1355750" y="-352800"/>
            <a:ext cx="5708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
        <p:nvSpPr>
          <p:cNvPr id="224" name="Google Shape;224;p13"/>
          <p:cNvSpPr txBox="1"/>
          <p:nvPr/>
        </p:nvSpPr>
        <p:spPr>
          <a:xfrm>
            <a:off x="874075" y="1347150"/>
            <a:ext cx="2864100" cy="29553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Desktop Computers and Laptops</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Television</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Home Appliances</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Chargers for Portable Devices</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LED Lighting</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p:txBody>
      </p:sp>
      <p:sp>
        <p:nvSpPr>
          <p:cNvPr id="225" name="Google Shape;225;p13"/>
          <p:cNvSpPr txBox="1"/>
          <p:nvPr/>
        </p:nvSpPr>
        <p:spPr>
          <a:xfrm>
            <a:off x="3708475" y="4390300"/>
            <a:ext cx="5054400" cy="3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
        <p:nvSpPr>
          <p:cNvPr id="226" name="Google Shape;226;p13"/>
          <p:cNvSpPr txBox="1"/>
          <p:nvPr/>
        </p:nvSpPr>
        <p:spPr>
          <a:xfrm>
            <a:off x="4803625" y="1435000"/>
            <a:ext cx="2864100" cy="29553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Factory Automation System</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Solar Power Inverter</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Home Appliances</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Chargers for Portable Devices</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Arial"/>
                <a:ea typeface="Arial"/>
                <a:cs typeface="Arial"/>
                <a:sym typeface="Arial"/>
              </a:rPr>
              <a:t>LED Lighting</a:t>
            </a:r>
            <a:endParaRPr b="1"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14"/>
          <p:cNvPicPr preferRelativeResize="0"/>
          <p:nvPr/>
        </p:nvPicPr>
        <p:blipFill rotWithShape="1">
          <a:blip r:embed="rId3">
            <a:alphaModFix/>
          </a:blip>
          <a:srcRect b="0" l="0" r="0" t="0"/>
          <a:stretch/>
        </p:blipFill>
        <p:spPr>
          <a:xfrm>
            <a:off x="133900" y="192250"/>
            <a:ext cx="8817175" cy="4744000"/>
          </a:xfrm>
          <a:prstGeom prst="rect">
            <a:avLst/>
          </a:prstGeom>
          <a:noFill/>
          <a:ln>
            <a:noFill/>
          </a:ln>
        </p:spPr>
      </p:pic>
      <p:sp>
        <p:nvSpPr>
          <p:cNvPr id="232" name="Google Shape;232;p14"/>
          <p:cNvSpPr txBox="1"/>
          <p:nvPr/>
        </p:nvSpPr>
        <p:spPr>
          <a:xfrm>
            <a:off x="1712850" y="2011800"/>
            <a:ext cx="5718300" cy="1119900"/>
          </a:xfrm>
          <a:prstGeom prst="rect">
            <a:avLst/>
          </a:prstGeom>
          <a:noFill/>
          <a:ln>
            <a:noFill/>
          </a:ln>
          <a:effectLst>
            <a:outerShdw rotWithShape="0" algn="bl" dir="21540000" dist="66675">
              <a:srgbClr val="000000">
                <a:alpha val="90196"/>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1" lang="en" sz="2900">
                <a:solidFill>
                  <a:schemeClr val="dk1"/>
                </a:solidFill>
                <a:latin typeface="Comic Sans MS"/>
                <a:ea typeface="Comic Sans MS"/>
                <a:cs typeface="Comic Sans MS"/>
                <a:sym typeface="Comic Sans MS"/>
              </a:rPr>
              <a:t>PHYSICAL</a:t>
            </a:r>
            <a:endParaRPr b="1" sz="2900">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2900"/>
              <a:buFont typeface="Arial"/>
              <a:buNone/>
            </a:pPr>
            <a:r>
              <a:rPr b="1" lang="en" sz="2900">
                <a:solidFill>
                  <a:schemeClr val="dk1"/>
                </a:solidFill>
                <a:latin typeface="Comic Sans MS"/>
                <a:ea typeface="Comic Sans MS"/>
                <a:cs typeface="Comic Sans MS"/>
                <a:sym typeface="Comic Sans MS"/>
              </a:rPr>
              <a:t>SETUP</a:t>
            </a:r>
            <a:endParaRPr b="1" sz="2900">
              <a:solidFill>
                <a:schemeClr val="dk1"/>
              </a:solidFill>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15"/>
          <p:cNvPicPr preferRelativeResize="0"/>
          <p:nvPr/>
        </p:nvPicPr>
        <p:blipFill rotWithShape="1">
          <a:blip r:embed="rId3">
            <a:alphaModFix/>
          </a:blip>
          <a:srcRect b="0" l="0" r="0" t="0"/>
          <a:stretch/>
        </p:blipFill>
        <p:spPr>
          <a:xfrm rot="-5400000">
            <a:off x="3013375" y="387350"/>
            <a:ext cx="3276600" cy="4368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Schematic Diagram:</a:t>
            </a:r>
            <a:endParaRPr/>
          </a:p>
        </p:txBody>
      </p:sp>
      <p:pic>
        <p:nvPicPr>
          <p:cNvPr id="243" name="Google Shape;243;p16"/>
          <p:cNvPicPr preferRelativeResize="0"/>
          <p:nvPr/>
        </p:nvPicPr>
        <p:blipFill rotWithShape="1">
          <a:blip r:embed="rId3">
            <a:alphaModFix/>
          </a:blip>
          <a:srcRect b="0" l="0" r="0" t="0"/>
          <a:stretch/>
        </p:blipFill>
        <p:spPr>
          <a:xfrm>
            <a:off x="433800" y="1546125"/>
            <a:ext cx="5387150" cy="2888651"/>
          </a:xfrm>
          <a:prstGeom prst="rect">
            <a:avLst/>
          </a:prstGeom>
          <a:noFill/>
          <a:ln>
            <a:noFill/>
          </a:ln>
        </p:spPr>
      </p:pic>
      <p:pic>
        <p:nvPicPr>
          <p:cNvPr id="244" name="Google Shape;244;p16"/>
          <p:cNvPicPr preferRelativeResize="0"/>
          <p:nvPr/>
        </p:nvPicPr>
        <p:blipFill rotWithShape="1">
          <a:blip r:embed="rId4">
            <a:alphaModFix/>
          </a:blip>
          <a:srcRect b="0" l="0" r="0" t="0"/>
          <a:stretch/>
        </p:blipFill>
        <p:spPr>
          <a:xfrm>
            <a:off x="5820950" y="2171475"/>
            <a:ext cx="3018250" cy="20182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Consideration for future Improvements:</a:t>
            </a:r>
            <a:endParaRPr/>
          </a:p>
        </p:txBody>
      </p:sp>
      <p:sp>
        <p:nvSpPr>
          <p:cNvPr id="250" name="Google Shape;250;p17"/>
          <p:cNvSpPr txBox="1"/>
          <p:nvPr>
            <p:ph idx="1" type="body"/>
          </p:nvPr>
        </p:nvSpPr>
        <p:spPr>
          <a:xfrm>
            <a:off x="819150" y="1990725"/>
            <a:ext cx="7505700" cy="191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b="1" lang="en" sz="1400">
                <a:solidFill>
                  <a:srgbClr val="000000"/>
                </a:solidFill>
                <a:latin typeface="Arial"/>
                <a:ea typeface="Arial"/>
                <a:cs typeface="Arial"/>
                <a:sym typeface="Arial"/>
              </a:rPr>
              <a:t>Increasing Efficiency:</a:t>
            </a:r>
            <a:r>
              <a:rPr lang="en" sz="1400">
                <a:solidFill>
                  <a:srgbClr val="000000"/>
                </a:solidFill>
                <a:latin typeface="Arial"/>
                <a:ea typeface="Arial"/>
                <a:cs typeface="Arial"/>
                <a:sym typeface="Arial"/>
              </a:rPr>
              <a:t> 1.Use of semiconductor. 2. Use of switches.</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b="1" lang="en" sz="1400">
                <a:solidFill>
                  <a:srgbClr val="000000"/>
                </a:solidFill>
                <a:latin typeface="Arial"/>
                <a:ea typeface="Arial"/>
                <a:cs typeface="Arial"/>
                <a:sym typeface="Arial"/>
              </a:rPr>
              <a:t>Size Reduction:</a:t>
            </a:r>
            <a:r>
              <a:rPr lang="en" sz="1400">
                <a:solidFill>
                  <a:srgbClr val="000000"/>
                </a:solidFill>
                <a:latin typeface="Arial"/>
                <a:ea typeface="Arial"/>
                <a:cs typeface="Arial"/>
                <a:sym typeface="Arial"/>
              </a:rPr>
              <a:t> Smaller Circuit design.</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rPr b="1" lang="en" sz="1400">
                <a:solidFill>
                  <a:srgbClr val="000000"/>
                </a:solidFill>
              </a:rPr>
              <a:t>Adaptability Enhancement:</a:t>
            </a:r>
            <a:r>
              <a:rPr lang="en" sz="1400">
                <a:solidFill>
                  <a:srgbClr val="000000"/>
                </a:solidFill>
              </a:rPr>
              <a:t>  1. Advanced thermal management systems. 2. Advanced Voltage Regulation System.  3. Eco-friendly materials.</a:t>
            </a:r>
            <a:endParaRPr sz="14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8"/>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000"/>
              <a:buNone/>
            </a:pPr>
            <a:r>
              <a:rPr lang="en"/>
              <a:t>Conclusion</a:t>
            </a:r>
            <a:endParaRPr/>
          </a:p>
        </p:txBody>
      </p:sp>
      <p:sp>
        <p:nvSpPr>
          <p:cNvPr id="256" name="Google Shape;256;p18"/>
          <p:cNvSpPr txBox="1"/>
          <p:nvPr/>
        </p:nvSpPr>
        <p:spPr>
          <a:xfrm>
            <a:off x="796050" y="1902100"/>
            <a:ext cx="7660500" cy="95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Calibri"/>
                <a:ea typeface="Calibri"/>
                <a:cs typeface="Calibri"/>
                <a:sym typeface="Calibri"/>
              </a:rPr>
              <a:t>Challenges:</a:t>
            </a:r>
            <a:r>
              <a:rPr b="0" i="0" lang="en" sz="1700" u="none" cap="none" strike="noStrike">
                <a:solidFill>
                  <a:schemeClr val="dk2"/>
                </a:solidFill>
                <a:latin typeface="Calibri"/>
                <a:ea typeface="Calibri"/>
                <a:cs typeface="Calibri"/>
                <a:sym typeface="Calibri"/>
              </a:rPr>
              <a:t> 1. Overheating 2. Live Connections 3. Calculation Adjustments</a:t>
            </a:r>
            <a:endParaRPr b="0" i="0" sz="17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Calibri"/>
                <a:ea typeface="Calibri"/>
                <a:cs typeface="Calibri"/>
                <a:sym typeface="Calibri"/>
              </a:rPr>
              <a:t>Solutions:</a:t>
            </a:r>
            <a:r>
              <a:rPr b="0" i="0" lang="en" sz="1700" u="none" cap="none" strike="noStrike">
                <a:solidFill>
                  <a:schemeClr val="dk2"/>
                </a:solidFill>
                <a:latin typeface="Calibri"/>
                <a:ea typeface="Calibri"/>
                <a:cs typeface="Calibri"/>
                <a:sym typeface="Calibri"/>
              </a:rPr>
              <a:t> 1. Using a heat sink 2. Taping of live connections. 3. Taking approximate values</a:t>
            </a:r>
            <a:endParaRPr b="0" i="0" sz="1700" u="none" cap="none" strike="noStrike">
              <a:solidFill>
                <a:schemeClr val="dk2"/>
              </a:solidFill>
              <a:latin typeface="Calibri"/>
              <a:ea typeface="Calibri"/>
              <a:cs typeface="Calibri"/>
              <a:sym typeface="Calibri"/>
            </a:endParaRPr>
          </a:p>
        </p:txBody>
      </p:sp>
      <p:sp>
        <p:nvSpPr>
          <p:cNvPr id="257" name="Google Shape;257;p18"/>
          <p:cNvSpPr txBox="1"/>
          <p:nvPr/>
        </p:nvSpPr>
        <p:spPr>
          <a:xfrm>
            <a:off x="796050" y="3074625"/>
            <a:ext cx="7397400" cy="875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300"/>
              <a:buFont typeface="Arial"/>
              <a:buNone/>
            </a:pPr>
            <a:r>
              <a:rPr b="0" i="0" lang="en" sz="1300" u="none" cap="none" strike="noStrike">
                <a:solidFill>
                  <a:schemeClr val="dk2"/>
                </a:solidFill>
                <a:latin typeface="Calibri"/>
                <a:ea typeface="Calibri"/>
                <a:cs typeface="Calibri"/>
                <a:sym typeface="Calibri"/>
              </a:rPr>
              <a:t>To conclude the designed circuit is an AC to DC converter with a variable voltage regulator. The variable voltage regulator is LM317. The transformer we used would ideally have an input of 220V AC and convert it to 12V DC. We successfully conducted the experiment and found the output voltage 8.89V which is close to the rms value of ideal 12V which is 8.45V.</a:t>
            </a:r>
            <a:endParaRPr b="0" i="0" sz="1300" u="none" cap="none" strike="noStrike">
              <a:solidFill>
                <a:schemeClr val="dk2"/>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300"/>
              <a:buFont typeface="Arial"/>
              <a:buNone/>
            </a:pPr>
            <a:r>
              <a:t/>
            </a:r>
            <a:endParaRPr b="0" i="0" sz="1300" u="none" cap="none" strike="noStrike">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